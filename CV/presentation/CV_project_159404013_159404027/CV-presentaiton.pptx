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b3a95b26fc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b3a95b26fc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b3a95b26fc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b3a95b26fc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b3a95b26fc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b3a95b26fc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b3bf79f67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b3bf79f67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b3bf79f67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b3bf79f67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b3bf79f67a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b3bf79f67a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b3bf79f67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b3bf79f67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b3bf79f67a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b3bf79f67a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b3bf79f67a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b3bf79f67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b3bf79f67a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b3bf79f67a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b3bf79f67a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b3bf79f67a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92065afed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92065afed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b3bf79f67a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b3bf79f67a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92065afed6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92065afed6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b3bf79f67a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b3bf79f67a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92065afed6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92065afed6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2425" y="-7250"/>
            <a:ext cx="9144000" cy="12264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13"/>
          <p:cNvSpPr txBox="1"/>
          <p:nvPr/>
        </p:nvSpPr>
        <p:spPr>
          <a:xfrm>
            <a:off x="3326250" y="239525"/>
            <a:ext cx="2491500" cy="524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Calibri"/>
                <a:ea typeface="Calibri"/>
                <a:cs typeface="Calibri"/>
                <a:sym typeface="Calibri"/>
              </a:rPr>
              <a:t>اسلاید ۱: عنوان و معرفی</a:t>
            </a:r>
            <a:endParaRPr sz="1800">
              <a:solidFill>
                <a:schemeClr val="dk1"/>
              </a:solidFill>
              <a:latin typeface="Calibri"/>
              <a:ea typeface="Calibri"/>
              <a:cs typeface="Calibri"/>
              <a:sym typeface="Calibri"/>
            </a:endParaRPr>
          </a:p>
        </p:txBody>
      </p:sp>
      <p:pic>
        <p:nvPicPr>
          <p:cNvPr id="56" name="Google Shape;56;p13" title="275_010550ef7891d0a7f6dc1fc27b97aa6a.png"/>
          <p:cNvPicPr preferRelativeResize="0"/>
          <p:nvPr/>
        </p:nvPicPr>
        <p:blipFill>
          <a:blip r:embed="rId3">
            <a:alphaModFix/>
          </a:blip>
          <a:stretch>
            <a:fillRect/>
          </a:stretch>
        </p:blipFill>
        <p:spPr>
          <a:xfrm>
            <a:off x="333925" y="71425"/>
            <a:ext cx="1069050" cy="1069050"/>
          </a:xfrm>
          <a:prstGeom prst="rect">
            <a:avLst/>
          </a:prstGeom>
          <a:noFill/>
          <a:ln>
            <a:noFill/>
          </a:ln>
        </p:spPr>
      </p:pic>
      <p:sp>
        <p:nvSpPr>
          <p:cNvPr id="57" name="Google Shape;57;p13"/>
          <p:cNvSpPr txBox="1"/>
          <p:nvPr/>
        </p:nvSpPr>
        <p:spPr>
          <a:xfrm>
            <a:off x="6632050" y="148625"/>
            <a:ext cx="2406000" cy="7059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lang="en" sz="1800">
                <a:solidFill>
                  <a:schemeClr val="dk1"/>
                </a:solidFill>
                <a:latin typeface="Calibri"/>
                <a:ea typeface="Calibri"/>
                <a:cs typeface="Calibri"/>
                <a:sym typeface="Calibri"/>
              </a:rPr>
              <a:t>ارائه</a:t>
            </a:r>
            <a:r>
              <a:rPr lang="en" sz="1800">
                <a:solidFill>
                  <a:schemeClr val="dk1"/>
                </a:solidFill>
                <a:latin typeface="Calibri"/>
                <a:ea typeface="Calibri"/>
                <a:cs typeface="Calibri"/>
                <a:sym typeface="Calibri"/>
              </a:rPr>
              <a:t> درس بینایی کامپیوتر </a:t>
            </a:r>
            <a:br>
              <a:rPr lang="en" sz="1800">
                <a:solidFill>
                  <a:schemeClr val="dk1"/>
                </a:solidFill>
                <a:latin typeface="Calibri"/>
                <a:ea typeface="Calibri"/>
                <a:cs typeface="Calibri"/>
                <a:sym typeface="Calibri"/>
              </a:rPr>
            </a:br>
            <a:r>
              <a:rPr lang="en" sz="1800">
                <a:solidFill>
                  <a:schemeClr val="dk1"/>
                </a:solidFill>
                <a:latin typeface="Calibri"/>
                <a:ea typeface="Calibri"/>
                <a:cs typeface="Calibri"/>
                <a:sym typeface="Calibri"/>
              </a:rPr>
              <a:t>استاد: دکتر نادری</a:t>
            </a:r>
            <a:endParaRPr sz="1800">
              <a:solidFill>
                <a:schemeClr val="dk1"/>
              </a:solidFill>
              <a:latin typeface="Calibri"/>
              <a:ea typeface="Calibri"/>
              <a:cs typeface="Calibri"/>
              <a:sym typeface="Calibri"/>
            </a:endParaRPr>
          </a:p>
        </p:txBody>
      </p:sp>
      <p:sp>
        <p:nvSpPr>
          <p:cNvPr id="58" name="Google Shape;58;p13"/>
          <p:cNvSpPr txBox="1"/>
          <p:nvPr/>
        </p:nvSpPr>
        <p:spPr>
          <a:xfrm>
            <a:off x="632400" y="1562788"/>
            <a:ext cx="8511600" cy="2748300"/>
          </a:xfrm>
          <a:prstGeom prst="rect">
            <a:avLst/>
          </a:prstGeom>
          <a:noFill/>
          <a:ln>
            <a:noFill/>
          </a:ln>
        </p:spPr>
        <p:txBody>
          <a:bodyPr anchorCtr="0" anchor="t" bIns="91425" lIns="91425" spcFirstLastPara="1" rIns="91425" wrap="square" tIns="91425">
            <a:noAutofit/>
          </a:bodyPr>
          <a:lstStyle/>
          <a:p>
            <a:pPr indent="0" lvl="0" marL="0" rtl="1" algn="ctr">
              <a:lnSpc>
                <a:spcPct val="120000"/>
              </a:lnSpc>
              <a:spcBef>
                <a:spcPts val="0"/>
              </a:spcBef>
              <a:spcAft>
                <a:spcPts val="0"/>
              </a:spcAft>
              <a:buClr>
                <a:schemeClr val="dk1"/>
              </a:buClr>
              <a:buSzPts val="1100"/>
              <a:buFont typeface="Arial"/>
              <a:buNone/>
            </a:pPr>
            <a:r>
              <a:rPr lang="en" sz="2100">
                <a:solidFill>
                  <a:schemeClr val="dk1"/>
                </a:solidFill>
                <a:latin typeface="Calibri"/>
                <a:ea typeface="Calibri"/>
                <a:cs typeface="Calibri"/>
                <a:sym typeface="Calibri"/>
              </a:rPr>
              <a:t>عنوان ارائه: مکانیزم‌های پیشرفته کنترل در مدل‌های انتشار متن به تصویر</a:t>
            </a:r>
            <a:endParaRPr sz="2100">
              <a:solidFill>
                <a:schemeClr val="dk1"/>
              </a:solidFill>
              <a:latin typeface="Calibri"/>
              <a:ea typeface="Calibri"/>
              <a:cs typeface="Calibri"/>
              <a:sym typeface="Calibri"/>
            </a:endParaRPr>
          </a:p>
          <a:p>
            <a:pPr indent="0" lvl="0" marL="457200" rtl="1" algn="ctr">
              <a:lnSpc>
                <a:spcPct val="115000"/>
              </a:lnSpc>
              <a:spcBef>
                <a:spcPts val="0"/>
              </a:spcBef>
              <a:spcAft>
                <a:spcPts val="0"/>
              </a:spcAft>
              <a:buNone/>
            </a:pPr>
            <a:r>
              <a:t/>
            </a:r>
            <a:endParaRPr sz="2100">
              <a:solidFill>
                <a:schemeClr val="dk1"/>
              </a:solidFill>
              <a:latin typeface="Calibri"/>
              <a:ea typeface="Calibri"/>
              <a:cs typeface="Calibri"/>
              <a:sym typeface="Calibri"/>
            </a:endParaRPr>
          </a:p>
          <a:p>
            <a:pPr indent="0" lvl="0" marL="914400" rtl="1" algn="ctr">
              <a:lnSpc>
                <a:spcPct val="115000"/>
              </a:lnSpc>
              <a:spcBef>
                <a:spcPts val="0"/>
              </a:spcBef>
              <a:spcAft>
                <a:spcPts val="0"/>
              </a:spcAft>
              <a:buNone/>
            </a:pPr>
            <a:r>
              <a:rPr lang="en" sz="1800">
                <a:solidFill>
                  <a:schemeClr val="dk1"/>
                </a:solidFill>
                <a:latin typeface="Calibri"/>
                <a:ea typeface="Calibri"/>
                <a:cs typeface="Calibri"/>
                <a:sym typeface="Calibri"/>
              </a:rPr>
              <a:t>بررسی مقالات</a:t>
            </a:r>
            <a:endParaRPr sz="1800">
              <a:solidFill>
                <a:schemeClr val="dk1"/>
              </a:solidFill>
              <a:latin typeface="Calibri"/>
              <a:ea typeface="Calibri"/>
              <a:cs typeface="Calibri"/>
              <a:sym typeface="Calibri"/>
            </a:endParaRPr>
          </a:p>
          <a:p>
            <a:pPr indent="0" lvl="0" marL="914400" rtl="1" algn="ctr">
              <a:lnSpc>
                <a:spcPct val="115000"/>
              </a:lnSpc>
              <a:spcBef>
                <a:spcPts val="0"/>
              </a:spcBef>
              <a:spcAft>
                <a:spcPts val="0"/>
              </a:spcAft>
              <a:buNone/>
            </a:pPr>
            <a:r>
              <a:rPr lang="en" sz="1800">
                <a:solidFill>
                  <a:schemeClr val="dk1"/>
                </a:solidFill>
                <a:latin typeface="Calibri"/>
                <a:ea typeface="Calibri"/>
                <a:cs typeface="Calibri"/>
                <a:sym typeface="Calibri"/>
              </a:rPr>
              <a:t> ControlNet، CTIG-DM و Steered Diffusion</a:t>
            </a:r>
            <a:endParaRPr sz="1800">
              <a:solidFill>
                <a:schemeClr val="dk1"/>
              </a:solidFill>
              <a:latin typeface="Calibri"/>
              <a:ea typeface="Calibri"/>
              <a:cs typeface="Calibri"/>
              <a:sym typeface="Calibri"/>
            </a:endParaRPr>
          </a:p>
          <a:p>
            <a:pPr indent="0" lvl="0" marL="914400" rtl="1" algn="ctr">
              <a:lnSpc>
                <a:spcPct val="115000"/>
              </a:lnSpc>
              <a:spcBef>
                <a:spcPts val="0"/>
              </a:spcBef>
              <a:spcAft>
                <a:spcPts val="0"/>
              </a:spcAft>
              <a:buNone/>
            </a:pPr>
            <a:r>
              <a:t/>
            </a:r>
            <a:endParaRPr sz="1800">
              <a:solidFill>
                <a:schemeClr val="dk1"/>
              </a:solidFill>
              <a:latin typeface="Calibri"/>
              <a:ea typeface="Calibri"/>
              <a:cs typeface="Calibri"/>
              <a:sym typeface="Calibri"/>
            </a:endParaRPr>
          </a:p>
          <a:p>
            <a:pPr indent="0" lvl="0" marL="914400" rtl="1" algn="ctr">
              <a:lnSpc>
                <a:spcPct val="115000"/>
              </a:lnSpc>
              <a:spcBef>
                <a:spcPts val="0"/>
              </a:spcBef>
              <a:spcAft>
                <a:spcPts val="0"/>
              </a:spcAft>
              <a:buNone/>
            </a:pPr>
            <a:r>
              <a:rPr lang="en" sz="1800">
                <a:solidFill>
                  <a:schemeClr val="dk1"/>
                </a:solidFill>
                <a:latin typeface="Calibri"/>
                <a:ea typeface="Calibri"/>
                <a:cs typeface="Calibri"/>
                <a:sym typeface="Calibri"/>
              </a:rPr>
              <a:t>ارائه دهندگان:</a:t>
            </a:r>
            <a:endParaRPr sz="1800">
              <a:solidFill>
                <a:schemeClr val="dk1"/>
              </a:solidFill>
              <a:latin typeface="Calibri"/>
              <a:ea typeface="Calibri"/>
              <a:cs typeface="Calibri"/>
              <a:sym typeface="Calibri"/>
            </a:endParaRPr>
          </a:p>
          <a:p>
            <a:pPr indent="0" lvl="0" marL="914400" rtl="1" algn="ctr">
              <a:lnSpc>
                <a:spcPct val="115000"/>
              </a:lnSpc>
              <a:spcBef>
                <a:spcPts val="0"/>
              </a:spcBef>
              <a:spcAft>
                <a:spcPts val="0"/>
              </a:spcAft>
              <a:buNone/>
            </a:pPr>
            <a:r>
              <a:rPr lang="en" sz="1800">
                <a:solidFill>
                  <a:schemeClr val="dk1"/>
                </a:solidFill>
                <a:latin typeface="Calibri"/>
                <a:ea typeface="Calibri"/>
                <a:cs typeface="Calibri"/>
                <a:sym typeface="Calibri"/>
              </a:rPr>
              <a:t> مرتضی رضایی</a:t>
            </a:r>
            <a:endParaRPr sz="1800">
              <a:solidFill>
                <a:schemeClr val="dk1"/>
              </a:solidFill>
              <a:latin typeface="Calibri"/>
              <a:ea typeface="Calibri"/>
              <a:cs typeface="Calibri"/>
              <a:sym typeface="Calibri"/>
            </a:endParaRPr>
          </a:p>
          <a:p>
            <a:pPr indent="0" lvl="0" marL="914400" rtl="1" algn="ctr">
              <a:lnSpc>
                <a:spcPct val="115000"/>
              </a:lnSpc>
              <a:spcBef>
                <a:spcPts val="0"/>
              </a:spcBef>
              <a:spcAft>
                <a:spcPts val="0"/>
              </a:spcAft>
              <a:buNone/>
            </a:pPr>
            <a:r>
              <a:rPr lang="en" sz="1800">
                <a:solidFill>
                  <a:schemeClr val="dk1"/>
                </a:solidFill>
                <a:latin typeface="Calibri"/>
                <a:ea typeface="Calibri"/>
                <a:cs typeface="Calibri"/>
                <a:sym typeface="Calibri"/>
              </a:rPr>
              <a:t> فرید نهایی</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p:nvPr/>
        </p:nvSpPr>
        <p:spPr>
          <a:xfrm>
            <a:off x="2425" y="-7250"/>
            <a:ext cx="9144000" cy="12264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 name="Google Shape;64;p14"/>
          <p:cNvSpPr txBox="1"/>
          <p:nvPr/>
        </p:nvSpPr>
        <p:spPr>
          <a:xfrm>
            <a:off x="3326250" y="239525"/>
            <a:ext cx="2491500" cy="524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Calibri"/>
                <a:ea typeface="Calibri"/>
                <a:cs typeface="Calibri"/>
                <a:sym typeface="Calibri"/>
              </a:rPr>
              <a:t>اسلاید 2: مقالات</a:t>
            </a:r>
            <a:endParaRPr sz="1800">
              <a:solidFill>
                <a:schemeClr val="dk1"/>
              </a:solidFill>
              <a:latin typeface="Calibri"/>
              <a:ea typeface="Calibri"/>
              <a:cs typeface="Calibri"/>
              <a:sym typeface="Calibri"/>
            </a:endParaRPr>
          </a:p>
        </p:txBody>
      </p:sp>
      <p:pic>
        <p:nvPicPr>
          <p:cNvPr id="65" name="Google Shape;65;p14" title="275_010550ef7891d0a7f6dc1fc27b97aa6a.png"/>
          <p:cNvPicPr preferRelativeResize="0"/>
          <p:nvPr/>
        </p:nvPicPr>
        <p:blipFill>
          <a:blip r:embed="rId3">
            <a:alphaModFix/>
          </a:blip>
          <a:stretch>
            <a:fillRect/>
          </a:stretch>
        </p:blipFill>
        <p:spPr>
          <a:xfrm>
            <a:off x="333925" y="71425"/>
            <a:ext cx="1069050" cy="1069050"/>
          </a:xfrm>
          <a:prstGeom prst="rect">
            <a:avLst/>
          </a:prstGeom>
          <a:noFill/>
          <a:ln>
            <a:noFill/>
          </a:ln>
        </p:spPr>
      </p:pic>
      <p:sp>
        <p:nvSpPr>
          <p:cNvPr id="66" name="Google Shape;66;p14"/>
          <p:cNvSpPr txBox="1"/>
          <p:nvPr/>
        </p:nvSpPr>
        <p:spPr>
          <a:xfrm>
            <a:off x="6632050" y="148625"/>
            <a:ext cx="2406000" cy="7059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lang="en" sz="1800">
                <a:solidFill>
                  <a:schemeClr val="dk1"/>
                </a:solidFill>
                <a:latin typeface="Calibri"/>
                <a:ea typeface="Calibri"/>
                <a:cs typeface="Calibri"/>
                <a:sym typeface="Calibri"/>
              </a:rPr>
              <a:t>ارائه درس بینایی کامپیوتر </a:t>
            </a:r>
            <a:br>
              <a:rPr lang="en" sz="1800">
                <a:solidFill>
                  <a:schemeClr val="dk1"/>
                </a:solidFill>
                <a:latin typeface="Calibri"/>
                <a:ea typeface="Calibri"/>
                <a:cs typeface="Calibri"/>
                <a:sym typeface="Calibri"/>
              </a:rPr>
            </a:br>
            <a:r>
              <a:rPr lang="en" sz="1800">
                <a:solidFill>
                  <a:schemeClr val="dk1"/>
                </a:solidFill>
                <a:latin typeface="Calibri"/>
                <a:ea typeface="Calibri"/>
                <a:cs typeface="Calibri"/>
                <a:sym typeface="Calibri"/>
              </a:rPr>
              <a:t>استاد: دکتر نادری</a:t>
            </a:r>
            <a:endParaRPr sz="1800">
              <a:solidFill>
                <a:schemeClr val="dk1"/>
              </a:solidFill>
              <a:latin typeface="Calibri"/>
              <a:ea typeface="Calibri"/>
              <a:cs typeface="Calibri"/>
              <a:sym typeface="Calibri"/>
            </a:endParaRPr>
          </a:p>
        </p:txBody>
      </p:sp>
      <p:sp>
        <p:nvSpPr>
          <p:cNvPr id="67" name="Google Shape;67;p14"/>
          <p:cNvSpPr txBox="1"/>
          <p:nvPr/>
        </p:nvSpPr>
        <p:spPr>
          <a:xfrm>
            <a:off x="333925" y="1501350"/>
            <a:ext cx="8511600" cy="994500"/>
          </a:xfrm>
          <a:prstGeom prst="rect">
            <a:avLst/>
          </a:prstGeom>
          <a:noFill/>
          <a:ln>
            <a:noFill/>
          </a:ln>
        </p:spPr>
        <p:txBody>
          <a:bodyPr anchorCtr="0" anchor="t" bIns="91425" lIns="91425" spcFirstLastPara="1" rIns="91425" wrap="square" tIns="91425">
            <a:noAutofit/>
          </a:bodyPr>
          <a:lstStyle/>
          <a:p>
            <a:pPr indent="-323850" lvl="0" marL="457200" rtl="1" algn="r">
              <a:lnSpc>
                <a:spcPct val="115000"/>
              </a:lnSpc>
              <a:spcBef>
                <a:spcPts val="0"/>
              </a:spcBef>
              <a:spcAft>
                <a:spcPts val="0"/>
              </a:spcAft>
              <a:buClr>
                <a:schemeClr val="dk1"/>
              </a:buClr>
              <a:buSzPts val="1500"/>
              <a:buFont typeface="Calibri"/>
              <a:buAutoNum type="arabicPeriod"/>
            </a:pPr>
            <a:r>
              <a:rPr lang="en" sz="1500">
                <a:solidFill>
                  <a:schemeClr val="dk1"/>
                </a:solidFill>
                <a:latin typeface="Calibri"/>
                <a:ea typeface="Calibri"/>
                <a:cs typeface="Calibri"/>
                <a:sym typeface="Calibri"/>
              </a:rPr>
              <a:t>مقاله ControlNet (کنترل ساختاری):</a:t>
            </a:r>
            <a:endParaRPr sz="1500">
              <a:solidFill>
                <a:schemeClr val="dk1"/>
              </a:solidFill>
              <a:latin typeface="Calibri"/>
              <a:ea typeface="Calibri"/>
              <a:cs typeface="Calibri"/>
              <a:sym typeface="Calibri"/>
            </a:endParaRPr>
          </a:p>
          <a:p>
            <a:pPr indent="0" lvl="0" marL="0" rtl="1" algn="l">
              <a:lnSpc>
                <a:spcPct val="144000"/>
              </a:lnSpc>
              <a:spcBef>
                <a:spcPts val="0"/>
              </a:spcBef>
              <a:spcAft>
                <a:spcPts val="0"/>
              </a:spcAft>
              <a:buClr>
                <a:schemeClr val="dk1"/>
              </a:buClr>
              <a:buSzPts val="1100"/>
              <a:buFont typeface="Arial"/>
              <a:buNone/>
            </a:pPr>
            <a:r>
              <a:rPr lang="en" sz="1500">
                <a:solidFill>
                  <a:schemeClr val="dk1"/>
                </a:solidFill>
                <a:latin typeface="Calibri"/>
                <a:ea typeface="Calibri"/>
                <a:cs typeface="Calibri"/>
                <a:sym typeface="Calibri"/>
              </a:rPr>
              <a:t>    Adding Conditional Control to Text-to-Image Diffusion Models</a:t>
            </a:r>
            <a:endParaRPr sz="1500">
              <a:solidFill>
                <a:schemeClr val="dk1"/>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n" sz="1500">
                <a:solidFill>
                  <a:schemeClr val="dk1"/>
                </a:solidFill>
                <a:latin typeface="Calibri"/>
                <a:ea typeface="Calibri"/>
                <a:cs typeface="Calibri"/>
                <a:sym typeface="Calibri"/>
              </a:rPr>
              <a:t>          </a:t>
            </a:r>
            <a:r>
              <a:rPr lang="en" sz="1500">
                <a:solidFill>
                  <a:schemeClr val="dk1"/>
                </a:solidFill>
                <a:latin typeface="Calibri"/>
                <a:ea typeface="Calibri"/>
                <a:cs typeface="Calibri"/>
                <a:sym typeface="Calibri"/>
              </a:rPr>
              <a:t> </a:t>
            </a:r>
            <a:r>
              <a:rPr lang="en" sz="1500">
                <a:solidFill>
                  <a:schemeClr val="dk1"/>
                </a:solidFill>
                <a:latin typeface="Calibri"/>
                <a:ea typeface="Calibri"/>
                <a:cs typeface="Calibri"/>
                <a:sym typeface="Calibri"/>
              </a:rPr>
              <a:t>ICCV 2023 (International Conference on Computer Vision)</a:t>
            </a:r>
            <a:endParaRPr sz="1500">
              <a:solidFill>
                <a:schemeClr val="dk1"/>
              </a:solidFill>
              <a:latin typeface="Calibri"/>
              <a:ea typeface="Calibri"/>
              <a:cs typeface="Calibri"/>
              <a:sym typeface="Calibri"/>
            </a:endParaRPr>
          </a:p>
          <a:p>
            <a:pPr indent="-323850" lvl="0" marL="457200" rtl="1" algn="r">
              <a:lnSpc>
                <a:spcPct val="115000"/>
              </a:lnSpc>
              <a:spcBef>
                <a:spcPts val="0"/>
              </a:spcBef>
              <a:spcAft>
                <a:spcPts val="0"/>
              </a:spcAft>
              <a:buClr>
                <a:schemeClr val="dk1"/>
              </a:buClr>
              <a:buSzPts val="1500"/>
              <a:buFont typeface="Calibri"/>
              <a:buAutoNum type="arabicPeriod" startAt="2"/>
            </a:pPr>
            <a:r>
              <a:rPr lang="en" sz="1500">
                <a:solidFill>
                  <a:schemeClr val="dk1"/>
                </a:solidFill>
                <a:latin typeface="Calibri"/>
                <a:ea typeface="Calibri"/>
                <a:cs typeface="Calibri"/>
                <a:sym typeface="Calibri"/>
              </a:rPr>
              <a:t>مقاله CTIG-DM (کنترل متن و سبک):</a:t>
            </a:r>
            <a:endParaRPr sz="1500">
              <a:solidFill>
                <a:schemeClr val="dk1"/>
              </a:solidFill>
              <a:latin typeface="Calibri"/>
              <a:ea typeface="Calibri"/>
              <a:cs typeface="Calibri"/>
              <a:sym typeface="Calibri"/>
            </a:endParaRPr>
          </a:p>
          <a:p>
            <a:pPr indent="0" lvl="0" marL="0" rtl="1" algn="l">
              <a:lnSpc>
                <a:spcPct val="144000"/>
              </a:lnSpc>
              <a:spcBef>
                <a:spcPts val="0"/>
              </a:spcBef>
              <a:spcAft>
                <a:spcPts val="0"/>
              </a:spcAft>
              <a:buClr>
                <a:schemeClr val="dk1"/>
              </a:buClr>
              <a:buSzPts val="1100"/>
              <a:buFont typeface="Arial"/>
              <a:buNone/>
            </a:pPr>
            <a:r>
              <a:rPr lang="en" sz="1500">
                <a:solidFill>
                  <a:schemeClr val="dk1"/>
                </a:solidFill>
                <a:latin typeface="Calibri"/>
                <a:ea typeface="Calibri"/>
                <a:cs typeface="Calibri"/>
                <a:sym typeface="Calibri"/>
              </a:rPr>
              <a:t>    Conditional Text Image Generation with Diffusion Models</a:t>
            </a:r>
            <a:endParaRPr sz="800">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rPr lang="en" sz="1500">
                <a:solidFill>
                  <a:schemeClr val="dk1"/>
                </a:solidFill>
                <a:latin typeface="Calibri"/>
                <a:ea typeface="Calibri"/>
                <a:cs typeface="Calibri"/>
                <a:sym typeface="Calibri"/>
              </a:rPr>
              <a:t> CVPR 2023 (Conference on Computer Vision and Pattern Recognition)</a:t>
            </a:r>
            <a:endParaRPr sz="1500">
              <a:solidFill>
                <a:schemeClr val="dk1"/>
              </a:solidFill>
              <a:latin typeface="Calibri"/>
              <a:ea typeface="Calibri"/>
              <a:cs typeface="Calibri"/>
              <a:sym typeface="Calibri"/>
            </a:endParaRPr>
          </a:p>
          <a:p>
            <a:pPr indent="0" lvl="0" marL="457200" rtl="1" algn="r">
              <a:lnSpc>
                <a:spcPct val="115000"/>
              </a:lnSpc>
              <a:spcBef>
                <a:spcPts val="0"/>
              </a:spcBef>
              <a:spcAft>
                <a:spcPts val="0"/>
              </a:spcAft>
              <a:buNone/>
            </a:pPr>
            <a:r>
              <a:t/>
            </a:r>
            <a:endParaRPr sz="1500">
              <a:solidFill>
                <a:schemeClr val="dk1"/>
              </a:solidFill>
              <a:latin typeface="Calibri"/>
              <a:ea typeface="Calibri"/>
              <a:cs typeface="Calibri"/>
              <a:sym typeface="Calibri"/>
            </a:endParaRPr>
          </a:p>
          <a:p>
            <a:pPr indent="-323850" lvl="0" marL="457200" rtl="1" algn="r">
              <a:lnSpc>
                <a:spcPct val="115000"/>
              </a:lnSpc>
              <a:spcBef>
                <a:spcPts val="0"/>
              </a:spcBef>
              <a:spcAft>
                <a:spcPts val="0"/>
              </a:spcAft>
              <a:buClr>
                <a:schemeClr val="dk1"/>
              </a:buClr>
              <a:buSzPts val="1500"/>
              <a:buFont typeface="Calibri"/>
              <a:buAutoNum type="arabicPeriod" startAt="3"/>
            </a:pPr>
            <a:r>
              <a:rPr lang="en" sz="1500">
                <a:solidFill>
                  <a:schemeClr val="dk1"/>
                </a:solidFill>
                <a:latin typeface="Calibri"/>
                <a:ea typeface="Calibri"/>
                <a:cs typeface="Calibri"/>
                <a:sym typeface="Calibri"/>
              </a:rPr>
              <a:t>مقاله Steered Diffusion (هدایت در زمان استنتاج):</a:t>
            </a:r>
            <a:endParaRPr sz="1500">
              <a:solidFill>
                <a:schemeClr val="dk1"/>
              </a:solidFill>
              <a:latin typeface="Calibri"/>
              <a:ea typeface="Calibri"/>
              <a:cs typeface="Calibri"/>
              <a:sym typeface="Calibri"/>
            </a:endParaRPr>
          </a:p>
          <a:p>
            <a:pPr indent="0" lvl="0" marL="457200" rtl="1" algn="r">
              <a:lnSpc>
                <a:spcPct val="115000"/>
              </a:lnSpc>
              <a:spcBef>
                <a:spcPts val="0"/>
              </a:spcBef>
              <a:spcAft>
                <a:spcPts val="0"/>
              </a:spcAft>
              <a:buNone/>
            </a:pPr>
            <a:r>
              <a:t/>
            </a:r>
            <a:endParaRPr sz="1500">
              <a:solidFill>
                <a:schemeClr val="dk1"/>
              </a:solidFill>
              <a:latin typeface="Calibri"/>
              <a:ea typeface="Calibri"/>
              <a:cs typeface="Calibri"/>
              <a:sym typeface="Calibri"/>
            </a:endParaRPr>
          </a:p>
          <a:p>
            <a:pPr indent="0" lvl="0" marL="457200" rtl="1" algn="l">
              <a:lnSpc>
                <a:spcPct val="115000"/>
              </a:lnSpc>
              <a:spcBef>
                <a:spcPts val="0"/>
              </a:spcBef>
              <a:spcAft>
                <a:spcPts val="0"/>
              </a:spcAft>
              <a:buNone/>
            </a:pPr>
            <a:r>
              <a:rPr lang="en" sz="1500">
                <a:solidFill>
                  <a:schemeClr val="dk1"/>
                </a:solidFill>
                <a:latin typeface="Calibri"/>
                <a:ea typeface="Calibri"/>
                <a:cs typeface="Calibri"/>
                <a:sym typeface="Calibri"/>
              </a:rPr>
              <a:t>    Steered Diffusion: A Generalized Framework for Plug-and-Play Conditional Image Synthesis</a:t>
            </a:r>
            <a:endParaRPr sz="15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500">
                <a:solidFill>
                  <a:schemeClr val="dk1"/>
                </a:solidFill>
                <a:latin typeface="Calibri"/>
                <a:ea typeface="Calibri"/>
                <a:cs typeface="Calibri"/>
                <a:sym typeface="Calibri"/>
              </a:rPr>
              <a:t>       ICCV 2023 (International Conference on Computer Vision)</a:t>
            </a:r>
            <a:endParaRPr sz="15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p:nvPr/>
        </p:nvSpPr>
        <p:spPr>
          <a:xfrm>
            <a:off x="2425" y="-7250"/>
            <a:ext cx="9144000" cy="12264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 name="Google Shape;73;p15"/>
          <p:cNvSpPr txBox="1"/>
          <p:nvPr/>
        </p:nvSpPr>
        <p:spPr>
          <a:xfrm>
            <a:off x="3326250" y="239525"/>
            <a:ext cx="2491500" cy="705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1" algn="ctr">
              <a:spcBef>
                <a:spcPts val="0"/>
              </a:spcBef>
              <a:spcAft>
                <a:spcPts val="0"/>
              </a:spcAft>
              <a:buNone/>
            </a:pPr>
            <a:r>
              <a:rPr lang="en" sz="1600">
                <a:solidFill>
                  <a:schemeClr val="dk1"/>
                </a:solidFill>
                <a:latin typeface="Calibri"/>
                <a:ea typeface="Calibri"/>
                <a:cs typeface="Calibri"/>
                <a:sym typeface="Calibri"/>
              </a:rPr>
              <a:t>اسلاید ۳: معرفی ControlNet و ایده Trainable Copy</a:t>
            </a:r>
            <a:endParaRPr sz="2300">
              <a:solidFill>
                <a:schemeClr val="dk1"/>
              </a:solidFill>
              <a:latin typeface="Calibri"/>
              <a:ea typeface="Calibri"/>
              <a:cs typeface="Calibri"/>
              <a:sym typeface="Calibri"/>
            </a:endParaRPr>
          </a:p>
        </p:txBody>
      </p:sp>
      <p:pic>
        <p:nvPicPr>
          <p:cNvPr id="74" name="Google Shape;74;p15" title="275_010550ef7891d0a7f6dc1fc27b97aa6a.png"/>
          <p:cNvPicPr preferRelativeResize="0"/>
          <p:nvPr/>
        </p:nvPicPr>
        <p:blipFill>
          <a:blip r:embed="rId3">
            <a:alphaModFix/>
          </a:blip>
          <a:stretch>
            <a:fillRect/>
          </a:stretch>
        </p:blipFill>
        <p:spPr>
          <a:xfrm>
            <a:off x="333925" y="71425"/>
            <a:ext cx="1069050" cy="1069050"/>
          </a:xfrm>
          <a:prstGeom prst="rect">
            <a:avLst/>
          </a:prstGeom>
          <a:noFill/>
          <a:ln>
            <a:noFill/>
          </a:ln>
        </p:spPr>
      </p:pic>
      <p:sp>
        <p:nvSpPr>
          <p:cNvPr id="75" name="Google Shape;75;p15"/>
          <p:cNvSpPr txBox="1"/>
          <p:nvPr/>
        </p:nvSpPr>
        <p:spPr>
          <a:xfrm>
            <a:off x="6632050" y="148625"/>
            <a:ext cx="2406000" cy="7059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lang="en" sz="1800">
                <a:solidFill>
                  <a:schemeClr val="dk1"/>
                </a:solidFill>
                <a:latin typeface="Calibri"/>
                <a:ea typeface="Calibri"/>
                <a:cs typeface="Calibri"/>
                <a:sym typeface="Calibri"/>
              </a:rPr>
              <a:t>ارائه درس بینایی کامپیوتر </a:t>
            </a:r>
            <a:br>
              <a:rPr lang="en" sz="1800">
                <a:solidFill>
                  <a:schemeClr val="dk1"/>
                </a:solidFill>
                <a:latin typeface="Calibri"/>
                <a:ea typeface="Calibri"/>
                <a:cs typeface="Calibri"/>
                <a:sym typeface="Calibri"/>
              </a:rPr>
            </a:br>
            <a:r>
              <a:rPr lang="en" sz="1800">
                <a:solidFill>
                  <a:schemeClr val="dk1"/>
                </a:solidFill>
                <a:latin typeface="Calibri"/>
                <a:ea typeface="Calibri"/>
                <a:cs typeface="Calibri"/>
                <a:sym typeface="Calibri"/>
              </a:rPr>
              <a:t>استاد: دکتر نادری</a:t>
            </a:r>
            <a:endParaRPr sz="1800">
              <a:solidFill>
                <a:schemeClr val="dk1"/>
              </a:solidFill>
              <a:latin typeface="Calibri"/>
              <a:ea typeface="Calibri"/>
              <a:cs typeface="Calibri"/>
              <a:sym typeface="Calibri"/>
            </a:endParaRPr>
          </a:p>
        </p:txBody>
      </p:sp>
      <p:sp>
        <p:nvSpPr>
          <p:cNvPr id="76" name="Google Shape;76;p15"/>
          <p:cNvSpPr txBox="1"/>
          <p:nvPr/>
        </p:nvSpPr>
        <p:spPr>
          <a:xfrm>
            <a:off x="333925" y="1501350"/>
            <a:ext cx="8511600" cy="9945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Clr>
                <a:schemeClr val="dk1"/>
              </a:buClr>
              <a:buSzPts val="1100"/>
              <a:buFont typeface="Arial"/>
              <a:buNone/>
            </a:pPr>
            <a:r>
              <a:rPr b="1" lang="en" sz="2000">
                <a:solidFill>
                  <a:schemeClr val="dk1"/>
                </a:solidFill>
                <a:latin typeface="Calibri"/>
                <a:ea typeface="Calibri"/>
                <a:cs typeface="Calibri"/>
                <a:sym typeface="Calibri"/>
              </a:rPr>
              <a:t>ControlNet: کنترل ساختاری در مدل‌های انتشار</a:t>
            </a:r>
            <a:endParaRPr b="1" sz="20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b="1" lang="en" sz="1800">
                <a:solidFill>
                  <a:schemeClr val="dk1"/>
                </a:solidFill>
                <a:latin typeface="Calibri"/>
                <a:ea typeface="Calibri"/>
                <a:cs typeface="Calibri"/>
                <a:sym typeface="Calibri"/>
              </a:rPr>
              <a:t>    چالش اصلی: </a:t>
            </a:r>
            <a:r>
              <a:rPr lang="en" sz="1800">
                <a:solidFill>
                  <a:schemeClr val="dk1"/>
                </a:solidFill>
                <a:latin typeface="Calibri"/>
                <a:ea typeface="Calibri"/>
                <a:cs typeface="Calibri"/>
                <a:sym typeface="Calibri"/>
              </a:rPr>
              <a:t>آموزش انتهای-به-انتهای (End-to-End) برای کنترل مدل‌های بزرگ Text-to-Image دشوار است؛ زیرا دیتای مربوط به "شرط‌های خاص" (مثل اسکلت بدن) بسیار کمتر از دیتای عمومی آموزش مدل است.</a:t>
            </a:r>
            <a:endParaRPr sz="1800">
              <a:solidFill>
                <a:schemeClr val="dk1"/>
              </a:solidFill>
              <a:latin typeface="Calibri"/>
              <a:ea typeface="Calibri"/>
              <a:cs typeface="Calibri"/>
              <a:sym typeface="Calibri"/>
            </a:endParaRPr>
          </a:p>
          <a:p>
            <a:pPr indent="0" lvl="0" marL="0" rtl="1" algn="r">
              <a:spcBef>
                <a:spcPts val="0"/>
              </a:spcBef>
              <a:spcAft>
                <a:spcPts val="0"/>
              </a:spcAft>
              <a:buNone/>
            </a:pPr>
            <a:r>
              <a:rPr lang="en"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b="1" lang="en" sz="1800">
                <a:solidFill>
                  <a:schemeClr val="dk1"/>
                </a:solidFill>
                <a:latin typeface="Calibri"/>
                <a:ea typeface="Calibri"/>
                <a:cs typeface="Calibri"/>
                <a:sym typeface="Calibri"/>
              </a:rPr>
              <a:t>  هدف:</a:t>
            </a:r>
            <a:r>
              <a:rPr lang="en" sz="1800">
                <a:solidFill>
                  <a:schemeClr val="dk1"/>
                </a:solidFill>
                <a:latin typeface="Calibri"/>
                <a:ea typeface="Calibri"/>
                <a:cs typeface="Calibri"/>
                <a:sym typeface="Calibri"/>
              </a:rPr>
              <a:t> ارائه یک معماری عصبی برای افزودن کنترل‌های مکانی (Spatial Controls) به مدل‌های از پیش آموزش دیده (مثل Stable Diffusion).</a:t>
            </a:r>
            <a:endParaRPr sz="1800">
              <a:solidFill>
                <a:schemeClr val="dk1"/>
              </a:solidFill>
              <a:latin typeface="Calibri"/>
              <a:ea typeface="Calibri"/>
              <a:cs typeface="Calibri"/>
              <a:sym typeface="Calibri"/>
            </a:endParaRPr>
          </a:p>
          <a:p>
            <a:pPr indent="0" lvl="0" marL="0" rtl="1" algn="r">
              <a:spcBef>
                <a:spcPts val="0"/>
              </a:spcBef>
              <a:spcAft>
                <a:spcPts val="0"/>
              </a:spcAft>
              <a:buNone/>
            </a:pPr>
            <a:r>
              <a:rPr lang="en"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b="1" lang="en" sz="1800">
                <a:solidFill>
                  <a:schemeClr val="dk1"/>
                </a:solidFill>
                <a:latin typeface="Calibri"/>
                <a:ea typeface="Calibri"/>
                <a:cs typeface="Calibri"/>
                <a:sym typeface="Calibri"/>
              </a:rPr>
              <a:t>قابلیت کلیدی:</a:t>
            </a:r>
            <a:r>
              <a:rPr lang="en" sz="1800">
                <a:solidFill>
                  <a:schemeClr val="dk1"/>
                </a:solidFill>
                <a:latin typeface="Calibri"/>
                <a:ea typeface="Calibri"/>
                <a:cs typeface="Calibri"/>
                <a:sym typeface="Calibri"/>
              </a:rPr>
              <a:t> امکان استفاده از ورودی‌های متنوع بصری مانند:</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لبه‌های Canny و خطوط Hough.</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نقشه‌های بخش‌بندی (Segmentation Maps) و عمق (Depth).</a:t>
            </a:r>
            <a:endParaRPr sz="1800">
              <a:solidFill>
                <a:schemeClr val="dk1"/>
              </a:solidFill>
              <a:latin typeface="Calibri"/>
              <a:ea typeface="Calibri"/>
              <a:cs typeface="Calibri"/>
              <a:sym typeface="Calibri"/>
            </a:endParaRPr>
          </a:p>
          <a:p>
            <a:pPr indent="0" lvl="0" marL="0" rtl="1" algn="r">
              <a:spcBef>
                <a:spcPts val="0"/>
              </a:spcBef>
              <a:spcAft>
                <a:spcPts val="0"/>
              </a:spcAft>
              <a:buNone/>
            </a:pPr>
            <a:r>
              <a:rPr lang="en" sz="1800">
                <a:solidFill>
                  <a:schemeClr val="dk1"/>
                </a:solidFill>
                <a:latin typeface="Calibri"/>
                <a:ea typeface="Calibri"/>
                <a:cs typeface="Calibri"/>
                <a:sym typeface="Calibri"/>
              </a:rPr>
              <a:t>        نقاط کلیدی بدن انسان (Human Key Points) و طرح‌های دستی (Scribbles).</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p:nvPr/>
        </p:nvSpPr>
        <p:spPr>
          <a:xfrm>
            <a:off x="2425" y="-7250"/>
            <a:ext cx="9144000" cy="12264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 name="Google Shape;82;p16"/>
          <p:cNvSpPr txBox="1"/>
          <p:nvPr/>
        </p:nvSpPr>
        <p:spPr>
          <a:xfrm>
            <a:off x="2967900" y="155500"/>
            <a:ext cx="3208200" cy="900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1" algn="ctr">
              <a:spcBef>
                <a:spcPts val="0"/>
              </a:spcBef>
              <a:spcAft>
                <a:spcPts val="0"/>
              </a:spcAft>
              <a:buNone/>
            </a:pPr>
            <a:r>
              <a:rPr lang="en" sz="1800">
                <a:solidFill>
                  <a:schemeClr val="dk1"/>
                </a:solidFill>
                <a:latin typeface="Calibri"/>
                <a:ea typeface="Calibri"/>
                <a:cs typeface="Calibri"/>
                <a:sym typeface="Calibri"/>
              </a:rPr>
              <a:t>اسلاید۴: معماری و سازوکار (Architecture &amp; Mechanism)</a:t>
            </a:r>
            <a:endParaRPr sz="1800">
              <a:solidFill>
                <a:schemeClr val="dk1"/>
              </a:solidFill>
              <a:latin typeface="Calibri"/>
              <a:ea typeface="Calibri"/>
              <a:cs typeface="Calibri"/>
              <a:sym typeface="Calibri"/>
            </a:endParaRPr>
          </a:p>
        </p:txBody>
      </p:sp>
      <p:pic>
        <p:nvPicPr>
          <p:cNvPr id="83" name="Google Shape;83;p16" title="275_010550ef7891d0a7f6dc1fc27b97aa6a.png"/>
          <p:cNvPicPr preferRelativeResize="0"/>
          <p:nvPr/>
        </p:nvPicPr>
        <p:blipFill>
          <a:blip r:embed="rId3">
            <a:alphaModFix/>
          </a:blip>
          <a:stretch>
            <a:fillRect/>
          </a:stretch>
        </p:blipFill>
        <p:spPr>
          <a:xfrm>
            <a:off x="333925" y="71425"/>
            <a:ext cx="1069050" cy="1069050"/>
          </a:xfrm>
          <a:prstGeom prst="rect">
            <a:avLst/>
          </a:prstGeom>
          <a:noFill/>
          <a:ln>
            <a:noFill/>
          </a:ln>
        </p:spPr>
      </p:pic>
      <p:sp>
        <p:nvSpPr>
          <p:cNvPr id="84" name="Google Shape;84;p16"/>
          <p:cNvSpPr txBox="1"/>
          <p:nvPr/>
        </p:nvSpPr>
        <p:spPr>
          <a:xfrm>
            <a:off x="6632050" y="148625"/>
            <a:ext cx="2406000" cy="7059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lang="en" sz="1800">
                <a:solidFill>
                  <a:schemeClr val="dk1"/>
                </a:solidFill>
                <a:latin typeface="Calibri"/>
                <a:ea typeface="Calibri"/>
                <a:cs typeface="Calibri"/>
                <a:sym typeface="Calibri"/>
              </a:rPr>
              <a:t>ارائه درس بینایی کامپیوتر </a:t>
            </a:r>
            <a:br>
              <a:rPr lang="en" sz="1800">
                <a:solidFill>
                  <a:schemeClr val="dk1"/>
                </a:solidFill>
                <a:latin typeface="Calibri"/>
                <a:ea typeface="Calibri"/>
                <a:cs typeface="Calibri"/>
                <a:sym typeface="Calibri"/>
              </a:rPr>
            </a:br>
            <a:r>
              <a:rPr lang="en" sz="1800">
                <a:solidFill>
                  <a:schemeClr val="dk1"/>
                </a:solidFill>
                <a:latin typeface="Calibri"/>
                <a:ea typeface="Calibri"/>
                <a:cs typeface="Calibri"/>
                <a:sym typeface="Calibri"/>
              </a:rPr>
              <a:t>استاد: دکتر نادری</a:t>
            </a:r>
            <a:endParaRPr sz="1800">
              <a:solidFill>
                <a:schemeClr val="dk1"/>
              </a:solidFill>
              <a:latin typeface="Calibri"/>
              <a:ea typeface="Calibri"/>
              <a:cs typeface="Calibri"/>
              <a:sym typeface="Calibri"/>
            </a:endParaRPr>
          </a:p>
        </p:txBody>
      </p:sp>
      <p:sp>
        <p:nvSpPr>
          <p:cNvPr id="85" name="Google Shape;85;p16"/>
          <p:cNvSpPr txBox="1"/>
          <p:nvPr/>
        </p:nvSpPr>
        <p:spPr>
          <a:xfrm>
            <a:off x="333925" y="1501350"/>
            <a:ext cx="8511600" cy="9945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Clr>
                <a:schemeClr val="dk1"/>
              </a:buClr>
              <a:buSzPts val="1100"/>
              <a:buFont typeface="Arial"/>
              <a:buNone/>
            </a:pPr>
            <a:r>
              <a:rPr b="1" lang="en" sz="2000">
                <a:solidFill>
                  <a:schemeClr val="dk1"/>
                </a:solidFill>
                <a:latin typeface="Calibri"/>
                <a:ea typeface="Calibri"/>
                <a:cs typeface="Calibri"/>
                <a:sym typeface="Calibri"/>
              </a:rPr>
              <a:t>استراتژی "کپی آموزش‌پذیر" و "مدل قفل‌شده"</a:t>
            </a:r>
            <a:endParaRPr b="1" sz="20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rtl="1" algn="r">
              <a:spcBef>
                <a:spcPts val="0"/>
              </a:spcBef>
              <a:spcAft>
                <a:spcPts val="0"/>
              </a:spcAft>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حفاظت از دانش مدل (Locking):</a:t>
            </a:r>
            <a:r>
              <a:rPr lang="en" sz="1800">
                <a:solidFill>
                  <a:schemeClr val="dk1"/>
                </a:solidFill>
                <a:latin typeface="Calibri"/>
                <a:ea typeface="Calibri"/>
                <a:cs typeface="Calibri"/>
                <a:sym typeface="Calibri"/>
              </a:rPr>
              <a:t> مدل‌های بزرگ که با میلیاردها تصویر آموزش دیده‌اند، "قفل" می‌شوند تا قابلیت‌های اصلی و کیفیت هنری آن‌ها حفظ شود.    </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b="1" lang="en" sz="1800">
                <a:solidFill>
                  <a:schemeClr val="dk1"/>
                </a:solidFill>
                <a:latin typeface="Calibri"/>
                <a:ea typeface="Calibri"/>
                <a:cs typeface="Calibri"/>
                <a:sym typeface="Calibri"/>
              </a:rPr>
              <a:t>ساختار موازی (Trainable Copy):</a:t>
            </a:r>
            <a:r>
              <a:rPr lang="en" sz="1800">
                <a:solidFill>
                  <a:schemeClr val="dk1"/>
                </a:solidFill>
                <a:latin typeface="Calibri"/>
                <a:ea typeface="Calibri"/>
                <a:cs typeface="Calibri"/>
                <a:sym typeface="Calibri"/>
              </a:rPr>
              <a:t> یک کپی از لایه‌های اینکودرِ مدل اصلی ساخته می‌شود تا کنترل‌های شرطی جدید را یاد بگیرد.</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اتصال هوشمند:</a:t>
            </a:r>
            <a:r>
              <a:rPr lang="en" sz="1800">
                <a:solidFill>
                  <a:schemeClr val="dk1"/>
                </a:solidFill>
                <a:latin typeface="Calibri"/>
                <a:ea typeface="Calibri"/>
                <a:cs typeface="Calibri"/>
                <a:sym typeface="Calibri"/>
              </a:rPr>
              <a:t> این دو شبکه از طریق لایه‌های Zero Convolution به هم متصل می‌شوند.</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وزن‌ها در ابتدا صفر هستند.</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با پیشرفت آموزش، پارامترها به تدریج رشد می‌کنند.</a:t>
            </a:r>
            <a:endParaRPr sz="1800">
              <a:solidFill>
                <a:schemeClr val="dk1"/>
              </a:solidFill>
              <a:latin typeface="Calibri"/>
              <a:ea typeface="Calibri"/>
              <a:cs typeface="Calibri"/>
              <a:sym typeface="Calibri"/>
            </a:endParaRPr>
          </a:p>
          <a:p>
            <a:pPr indent="0" lvl="0" marL="0" rtl="1" algn="r">
              <a:spcBef>
                <a:spcPts val="0"/>
              </a:spcBef>
              <a:spcAft>
                <a:spcPts val="0"/>
              </a:spcAft>
              <a:buNone/>
            </a:pPr>
            <a:r>
              <a:rPr lang="en"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indent="0" lvl="0" marL="0" rtl="1" algn="r">
              <a:spcBef>
                <a:spcPts val="0"/>
              </a:spcBef>
              <a:spcAft>
                <a:spcPts val="0"/>
              </a:spcAft>
              <a:buNone/>
            </a:pPr>
            <a:r>
              <a:rPr b="1" lang="en" sz="1800">
                <a:solidFill>
                  <a:schemeClr val="dk1"/>
                </a:solidFill>
                <a:latin typeface="Calibri"/>
                <a:ea typeface="Calibri"/>
                <a:cs typeface="Calibri"/>
                <a:sym typeface="Calibri"/>
              </a:rPr>
              <a:t>مزیت فنی:</a:t>
            </a:r>
            <a:r>
              <a:rPr lang="en" sz="1800">
                <a:solidFill>
                  <a:schemeClr val="dk1"/>
                </a:solidFill>
                <a:latin typeface="Calibri"/>
                <a:ea typeface="Calibri"/>
                <a:cs typeface="Calibri"/>
                <a:sym typeface="Calibri"/>
              </a:rPr>
              <a:t> جلوگیری از ورود "نویز مخرب" (Harmful Noise) به بدنه اصلی مدل در ابتدای فرآیند آموزش (Fine-tuning).</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p:nvPr/>
        </p:nvSpPr>
        <p:spPr>
          <a:xfrm>
            <a:off x="2425" y="-7250"/>
            <a:ext cx="9144000" cy="12264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p17"/>
          <p:cNvSpPr txBox="1"/>
          <p:nvPr/>
        </p:nvSpPr>
        <p:spPr>
          <a:xfrm>
            <a:off x="2871300" y="271725"/>
            <a:ext cx="3401400" cy="753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1" algn="ctr">
              <a:spcBef>
                <a:spcPts val="0"/>
              </a:spcBef>
              <a:spcAft>
                <a:spcPts val="0"/>
              </a:spcAft>
              <a:buNone/>
            </a:pPr>
            <a:r>
              <a:rPr lang="en" sz="1800">
                <a:solidFill>
                  <a:schemeClr val="dk1"/>
                </a:solidFill>
                <a:latin typeface="Calibri"/>
                <a:ea typeface="Calibri"/>
                <a:cs typeface="Calibri"/>
                <a:sym typeface="Calibri"/>
              </a:rPr>
              <a:t>اسلاید ۵: تحلیل نتایج و عملکرد (Performance Analysis)</a:t>
            </a:r>
            <a:endParaRPr sz="1800">
              <a:solidFill>
                <a:schemeClr val="dk1"/>
              </a:solidFill>
              <a:latin typeface="Calibri"/>
              <a:ea typeface="Calibri"/>
              <a:cs typeface="Calibri"/>
              <a:sym typeface="Calibri"/>
            </a:endParaRPr>
          </a:p>
          <a:p>
            <a:pPr indent="0" lvl="0" marL="0" rtl="1"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id="92" name="Google Shape;92;p17" title="275_010550ef7891d0a7f6dc1fc27b97aa6a.png"/>
          <p:cNvPicPr preferRelativeResize="0"/>
          <p:nvPr/>
        </p:nvPicPr>
        <p:blipFill>
          <a:blip r:embed="rId3">
            <a:alphaModFix/>
          </a:blip>
          <a:stretch>
            <a:fillRect/>
          </a:stretch>
        </p:blipFill>
        <p:spPr>
          <a:xfrm>
            <a:off x="333925" y="71425"/>
            <a:ext cx="1069050" cy="1069050"/>
          </a:xfrm>
          <a:prstGeom prst="rect">
            <a:avLst/>
          </a:prstGeom>
          <a:noFill/>
          <a:ln>
            <a:noFill/>
          </a:ln>
        </p:spPr>
      </p:pic>
      <p:sp>
        <p:nvSpPr>
          <p:cNvPr id="93" name="Google Shape;93;p17"/>
          <p:cNvSpPr txBox="1"/>
          <p:nvPr/>
        </p:nvSpPr>
        <p:spPr>
          <a:xfrm>
            <a:off x="6632050" y="148625"/>
            <a:ext cx="2406000" cy="7059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lang="en" sz="1800">
                <a:solidFill>
                  <a:schemeClr val="dk1"/>
                </a:solidFill>
                <a:latin typeface="Calibri"/>
                <a:ea typeface="Calibri"/>
                <a:cs typeface="Calibri"/>
                <a:sym typeface="Calibri"/>
              </a:rPr>
              <a:t>ارائه درس بینایی کامپیوتر </a:t>
            </a:r>
            <a:br>
              <a:rPr lang="en" sz="1800">
                <a:solidFill>
                  <a:schemeClr val="dk1"/>
                </a:solidFill>
                <a:latin typeface="Calibri"/>
                <a:ea typeface="Calibri"/>
                <a:cs typeface="Calibri"/>
                <a:sym typeface="Calibri"/>
              </a:rPr>
            </a:br>
            <a:r>
              <a:rPr lang="en" sz="1800">
                <a:solidFill>
                  <a:schemeClr val="dk1"/>
                </a:solidFill>
                <a:latin typeface="Calibri"/>
                <a:ea typeface="Calibri"/>
                <a:cs typeface="Calibri"/>
                <a:sym typeface="Calibri"/>
              </a:rPr>
              <a:t>استاد: دکتر نادری</a:t>
            </a:r>
            <a:endParaRPr sz="1800">
              <a:solidFill>
                <a:schemeClr val="dk1"/>
              </a:solidFill>
              <a:latin typeface="Calibri"/>
              <a:ea typeface="Calibri"/>
              <a:cs typeface="Calibri"/>
              <a:sym typeface="Calibri"/>
            </a:endParaRPr>
          </a:p>
        </p:txBody>
      </p:sp>
      <p:sp>
        <p:nvSpPr>
          <p:cNvPr id="94" name="Google Shape;94;p17"/>
          <p:cNvSpPr txBox="1"/>
          <p:nvPr/>
        </p:nvSpPr>
        <p:spPr>
          <a:xfrm>
            <a:off x="333925" y="1501350"/>
            <a:ext cx="8511600" cy="9945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تیتر: همگرایی و دقت در شرایط واقعی (In-the-wild)</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 همگرایی پایدار:</a:t>
            </a:r>
            <a:r>
              <a:rPr lang="en" sz="1800">
                <a:solidFill>
                  <a:schemeClr val="dk1"/>
                </a:solidFill>
                <a:latin typeface="Calibri"/>
                <a:ea typeface="Calibri"/>
                <a:cs typeface="Calibri"/>
                <a:sym typeface="Calibri"/>
              </a:rPr>
              <a:t> به دلیل استفاده از Zero Convolutions، فرآیند آموزش حتی با سخت‌افزار معمولی و دیتای محدود، بسیار پایدار است.</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  ترکیب متن و تصویر:</a:t>
            </a:r>
            <a:r>
              <a:rPr lang="en" sz="1800">
                <a:solidFill>
                  <a:schemeClr val="dk1"/>
                </a:solidFill>
                <a:latin typeface="Calibri"/>
                <a:ea typeface="Calibri"/>
                <a:cs typeface="Calibri"/>
                <a:sym typeface="Calibri"/>
              </a:rPr>
              <a:t> کاربر می‌تواند علاوه بر شرط تصویری، از پرامپت‌های متنی (مثلاً "Chef in kitchen") برای هدایت محتوا استفاده کند.</a:t>
            </a:r>
            <a:endParaRPr sz="1800">
              <a:solidFill>
                <a:schemeClr val="dk1"/>
              </a:solidFill>
              <a:latin typeface="Calibri"/>
              <a:ea typeface="Calibri"/>
              <a:cs typeface="Calibri"/>
              <a:sym typeface="Calibri"/>
            </a:endParaRPr>
          </a:p>
          <a:p>
            <a:pPr indent="0" lvl="0" marL="0" rtl="1" algn="r">
              <a:spcBef>
                <a:spcPts val="0"/>
              </a:spcBef>
              <a:spcAft>
                <a:spcPts val="0"/>
              </a:spcAft>
              <a:buNone/>
            </a:pPr>
            <a:r>
              <a:rPr lang="en"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b="1" lang="en" sz="1800">
                <a:solidFill>
                  <a:schemeClr val="dk1"/>
                </a:solidFill>
                <a:latin typeface="Calibri"/>
                <a:ea typeface="Calibri"/>
                <a:cs typeface="Calibri"/>
                <a:sym typeface="Calibri"/>
              </a:rPr>
              <a:t>مدیریت اشکال پیچیده:</a:t>
            </a:r>
            <a:r>
              <a:rPr lang="en" sz="1800">
                <a:solidFill>
                  <a:schemeClr val="dk1"/>
                </a:solidFill>
                <a:latin typeface="Calibri"/>
                <a:ea typeface="Calibri"/>
                <a:cs typeface="Calibri"/>
                <a:sym typeface="Calibri"/>
              </a:rPr>
              <a:t> این معماری برای مدیریت تصاویر شرطی در دنیای واقعی که دارای اشکال پیچیده و معنای سطح‌بالا (High-level semantics) هستند، بهینه‌سازی شده است.</a:t>
            </a:r>
            <a:endParaRPr sz="1800">
              <a:solidFill>
                <a:schemeClr val="dk1"/>
              </a:solidFill>
              <a:latin typeface="Calibri"/>
              <a:ea typeface="Calibri"/>
              <a:cs typeface="Calibri"/>
              <a:sym typeface="Calibri"/>
            </a:endParaRPr>
          </a:p>
          <a:p>
            <a:pPr indent="0" lvl="0" marL="0" rtl="1" algn="r">
              <a:spcBef>
                <a:spcPts val="0"/>
              </a:spcBef>
              <a:spcAft>
                <a:spcPts val="0"/>
              </a:spcAft>
              <a:buNone/>
            </a:pPr>
            <a:r>
              <a:rPr lang="en" sz="1800">
                <a:solidFill>
                  <a:schemeClr val="dk1"/>
                </a:solidFill>
                <a:latin typeface="Calibri"/>
                <a:ea typeface="Calibri"/>
                <a:cs typeface="Calibri"/>
                <a:sym typeface="Calibri"/>
              </a:rPr>
              <a:t>    خروجی نهایی: حفظ کامل کیفیت مدل Stable Diffusion در کنار وفاداری ۱۰۰ درصدی به ساختار ورودی کاربر.</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p:nvPr/>
        </p:nvSpPr>
        <p:spPr>
          <a:xfrm>
            <a:off x="2425" y="-7250"/>
            <a:ext cx="9144000" cy="12264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 name="Google Shape;100;p18"/>
          <p:cNvSpPr txBox="1"/>
          <p:nvPr/>
        </p:nvSpPr>
        <p:spPr>
          <a:xfrm>
            <a:off x="2692500" y="239525"/>
            <a:ext cx="3759000" cy="834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1" algn="ctr">
              <a:spcBef>
                <a:spcPts val="0"/>
              </a:spcBef>
              <a:spcAft>
                <a:spcPts val="0"/>
              </a:spcAft>
              <a:buNone/>
            </a:pPr>
            <a:r>
              <a:rPr lang="en" sz="1800">
                <a:solidFill>
                  <a:schemeClr val="dk1"/>
                </a:solidFill>
                <a:latin typeface="Calibri"/>
                <a:ea typeface="Calibri"/>
                <a:cs typeface="Calibri"/>
                <a:sym typeface="Calibri"/>
              </a:rPr>
              <a:t>اسلاید ۶: تولید تصویر متن با مدل‌های انتشار</a:t>
            </a:r>
            <a:endParaRPr sz="1800">
              <a:solidFill>
                <a:schemeClr val="dk1"/>
              </a:solidFill>
              <a:latin typeface="Calibri"/>
              <a:ea typeface="Calibri"/>
              <a:cs typeface="Calibri"/>
              <a:sym typeface="Calibri"/>
            </a:endParaRPr>
          </a:p>
          <a:p>
            <a:pPr indent="0" lvl="0" marL="0" rtl="1" algn="ctr">
              <a:spcBef>
                <a:spcPts val="0"/>
              </a:spcBef>
              <a:spcAft>
                <a:spcPts val="0"/>
              </a:spcAft>
              <a:buNone/>
            </a:pPr>
            <a:r>
              <a:rPr lang="en" sz="1800">
                <a:solidFill>
                  <a:schemeClr val="dk1"/>
                </a:solidFill>
                <a:latin typeface="Calibri"/>
                <a:ea typeface="Calibri"/>
                <a:cs typeface="Calibri"/>
                <a:sym typeface="Calibri"/>
              </a:rPr>
              <a:t>معرفی و ضرورت پژوهش </a:t>
            </a:r>
            <a:endParaRPr sz="1800">
              <a:solidFill>
                <a:schemeClr val="dk1"/>
              </a:solidFill>
              <a:latin typeface="Calibri"/>
              <a:ea typeface="Calibri"/>
              <a:cs typeface="Calibri"/>
              <a:sym typeface="Calibri"/>
            </a:endParaRPr>
          </a:p>
        </p:txBody>
      </p:sp>
      <p:pic>
        <p:nvPicPr>
          <p:cNvPr id="101" name="Google Shape;101;p18" title="275_010550ef7891d0a7f6dc1fc27b97aa6a.png"/>
          <p:cNvPicPr preferRelativeResize="0"/>
          <p:nvPr/>
        </p:nvPicPr>
        <p:blipFill>
          <a:blip r:embed="rId3">
            <a:alphaModFix/>
          </a:blip>
          <a:stretch>
            <a:fillRect/>
          </a:stretch>
        </p:blipFill>
        <p:spPr>
          <a:xfrm>
            <a:off x="333925" y="71425"/>
            <a:ext cx="1069050" cy="1069050"/>
          </a:xfrm>
          <a:prstGeom prst="rect">
            <a:avLst/>
          </a:prstGeom>
          <a:noFill/>
          <a:ln>
            <a:noFill/>
          </a:ln>
        </p:spPr>
      </p:pic>
      <p:sp>
        <p:nvSpPr>
          <p:cNvPr id="102" name="Google Shape;102;p18"/>
          <p:cNvSpPr txBox="1"/>
          <p:nvPr/>
        </p:nvSpPr>
        <p:spPr>
          <a:xfrm>
            <a:off x="6632050" y="148625"/>
            <a:ext cx="2406000" cy="7059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lang="en" sz="1800">
                <a:solidFill>
                  <a:schemeClr val="dk1"/>
                </a:solidFill>
                <a:latin typeface="Calibri"/>
                <a:ea typeface="Calibri"/>
                <a:cs typeface="Calibri"/>
                <a:sym typeface="Calibri"/>
              </a:rPr>
              <a:t>ارائه درس بینایی کامپیوتر </a:t>
            </a:r>
            <a:br>
              <a:rPr lang="en" sz="1800">
                <a:solidFill>
                  <a:schemeClr val="dk1"/>
                </a:solidFill>
                <a:latin typeface="Calibri"/>
                <a:ea typeface="Calibri"/>
                <a:cs typeface="Calibri"/>
                <a:sym typeface="Calibri"/>
              </a:rPr>
            </a:br>
            <a:r>
              <a:rPr lang="en" sz="1800">
                <a:solidFill>
                  <a:schemeClr val="dk1"/>
                </a:solidFill>
                <a:latin typeface="Calibri"/>
                <a:ea typeface="Calibri"/>
                <a:cs typeface="Calibri"/>
                <a:sym typeface="Calibri"/>
              </a:rPr>
              <a:t>استاد: دکتر نادری</a:t>
            </a:r>
            <a:endParaRPr sz="1800">
              <a:solidFill>
                <a:schemeClr val="dk1"/>
              </a:solidFill>
              <a:latin typeface="Calibri"/>
              <a:ea typeface="Calibri"/>
              <a:cs typeface="Calibri"/>
              <a:sym typeface="Calibri"/>
            </a:endParaRPr>
          </a:p>
        </p:txBody>
      </p:sp>
      <p:sp>
        <p:nvSpPr>
          <p:cNvPr id="103" name="Google Shape;103;p18"/>
          <p:cNvSpPr txBox="1"/>
          <p:nvPr/>
        </p:nvSpPr>
        <p:spPr>
          <a:xfrm>
            <a:off x="333925" y="1493301"/>
            <a:ext cx="8511600" cy="9945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Clr>
                <a:schemeClr val="dk1"/>
              </a:buClr>
              <a:buSzPts val="1100"/>
              <a:buFont typeface="Arial"/>
              <a:buNone/>
            </a:pPr>
            <a:r>
              <a:rPr b="1" lang="en" sz="2000">
                <a:solidFill>
                  <a:schemeClr val="dk1"/>
                </a:solidFill>
                <a:latin typeface="Calibri"/>
                <a:ea typeface="Calibri"/>
                <a:cs typeface="Calibri"/>
                <a:sym typeface="Calibri"/>
              </a:rPr>
              <a:t>CTIG-DM: تولید تصویر متن با مدل‌های انتشار</a:t>
            </a:r>
            <a:endParaRPr b="1" sz="20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چالش داده‌ها:</a:t>
            </a:r>
            <a:r>
              <a:rPr lang="en" sz="1800">
                <a:solidFill>
                  <a:schemeClr val="dk1"/>
                </a:solidFill>
                <a:latin typeface="Calibri"/>
                <a:ea typeface="Calibri"/>
                <a:cs typeface="Calibri"/>
                <a:sym typeface="Calibri"/>
              </a:rPr>
              <a:t> سیستم‌های تشخیص متن (OCR) برای یادگیری پیچیدگی‌های دنیای واقعی به داده‌های انبوه نیاز دارند، اما جمع‌آوری و برچسب‌گذاری تصاویر واقعی دشوار است.</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b="1" lang="en" sz="1800">
                <a:solidFill>
                  <a:schemeClr val="dk1"/>
                </a:solidFill>
                <a:latin typeface="Calibri"/>
                <a:ea typeface="Calibri"/>
                <a:cs typeface="Calibri"/>
                <a:sym typeface="Calibri"/>
              </a:rPr>
              <a:t>راهکار:</a:t>
            </a:r>
            <a:r>
              <a:rPr lang="en" sz="1800">
                <a:solidFill>
                  <a:schemeClr val="dk1"/>
                </a:solidFill>
                <a:latin typeface="Calibri"/>
                <a:ea typeface="Calibri"/>
                <a:cs typeface="Calibri"/>
                <a:sym typeface="Calibri"/>
              </a:rPr>
              <a:t> استفاده از قدرت مدل‌های انتشار (Diffusion Models) برای تولید تصاویر واقع‌گرایانه و متنوع.</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b="1" lang="en" sz="1800">
                <a:solidFill>
                  <a:schemeClr val="dk1"/>
                </a:solidFill>
                <a:latin typeface="Calibri"/>
                <a:ea typeface="Calibri"/>
                <a:cs typeface="Calibri"/>
                <a:sym typeface="Calibri"/>
              </a:rPr>
              <a:t>برتری بر GANها:</a:t>
            </a:r>
            <a:r>
              <a:rPr lang="en" sz="1800">
                <a:solidFill>
                  <a:schemeClr val="dk1"/>
                </a:solidFill>
                <a:latin typeface="Calibri"/>
                <a:ea typeface="Calibri"/>
                <a:cs typeface="Calibri"/>
                <a:sym typeface="Calibri"/>
              </a:rPr>
              <a:t> مدل‌های انتشار (مانند DDPM) از روش‌های مبتنی بر GAN در کیفیت و تنوع خروجی پیشی گرفته‌اند.</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rtl="1" algn="r">
              <a:spcBef>
                <a:spcPts val="0"/>
              </a:spcBef>
              <a:spcAft>
                <a:spcPts val="0"/>
              </a:spcAft>
              <a:buNone/>
            </a:pPr>
            <a:r>
              <a:rPr b="1" lang="en" sz="1800">
                <a:solidFill>
                  <a:schemeClr val="dk1"/>
                </a:solidFill>
                <a:latin typeface="Calibri"/>
                <a:ea typeface="Calibri"/>
                <a:cs typeface="Calibri"/>
                <a:sym typeface="Calibri"/>
              </a:rPr>
              <a:t>هدف اصلی:</a:t>
            </a:r>
            <a:r>
              <a:rPr lang="en" sz="1800">
                <a:solidFill>
                  <a:schemeClr val="dk1"/>
                </a:solidFill>
                <a:latin typeface="Calibri"/>
                <a:ea typeface="Calibri"/>
                <a:cs typeface="Calibri"/>
                <a:sym typeface="Calibri"/>
              </a:rPr>
              <a:t> ارتقای عملکرد سیستم‌های تشخیص متن از طریق تولید داده‌های مصنوعیِ باکیفیت.</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p:nvPr/>
        </p:nvSpPr>
        <p:spPr>
          <a:xfrm>
            <a:off x="2425" y="-7250"/>
            <a:ext cx="9144000" cy="12264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 name="Google Shape;109;p19"/>
          <p:cNvSpPr txBox="1"/>
          <p:nvPr/>
        </p:nvSpPr>
        <p:spPr>
          <a:xfrm>
            <a:off x="2604000" y="148625"/>
            <a:ext cx="3936000" cy="740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1" algn="ctr">
              <a:spcBef>
                <a:spcPts val="0"/>
              </a:spcBef>
              <a:spcAft>
                <a:spcPts val="0"/>
              </a:spcAft>
              <a:buNone/>
            </a:pPr>
            <a:r>
              <a:rPr lang="en" sz="1800">
                <a:solidFill>
                  <a:schemeClr val="dk1"/>
                </a:solidFill>
                <a:latin typeface="Calibri"/>
                <a:ea typeface="Calibri"/>
                <a:cs typeface="Calibri"/>
                <a:sym typeface="Calibri"/>
              </a:rPr>
              <a:t>اسلاید ۷:معماری و شرط‌های سه‌گانه (Three-Condition Mechanism)</a:t>
            </a:r>
            <a:endParaRPr sz="1800">
              <a:solidFill>
                <a:schemeClr val="dk1"/>
              </a:solidFill>
              <a:latin typeface="Calibri"/>
              <a:ea typeface="Calibri"/>
              <a:cs typeface="Calibri"/>
              <a:sym typeface="Calibri"/>
            </a:endParaRPr>
          </a:p>
        </p:txBody>
      </p:sp>
      <p:pic>
        <p:nvPicPr>
          <p:cNvPr id="110" name="Google Shape;110;p19" title="275_010550ef7891d0a7f6dc1fc27b97aa6a.png"/>
          <p:cNvPicPr preferRelativeResize="0"/>
          <p:nvPr/>
        </p:nvPicPr>
        <p:blipFill>
          <a:blip r:embed="rId3">
            <a:alphaModFix/>
          </a:blip>
          <a:stretch>
            <a:fillRect/>
          </a:stretch>
        </p:blipFill>
        <p:spPr>
          <a:xfrm>
            <a:off x="333925" y="71425"/>
            <a:ext cx="1069050" cy="1069050"/>
          </a:xfrm>
          <a:prstGeom prst="rect">
            <a:avLst/>
          </a:prstGeom>
          <a:noFill/>
          <a:ln>
            <a:noFill/>
          </a:ln>
        </p:spPr>
      </p:pic>
      <p:sp>
        <p:nvSpPr>
          <p:cNvPr id="111" name="Google Shape;111;p19"/>
          <p:cNvSpPr txBox="1"/>
          <p:nvPr/>
        </p:nvSpPr>
        <p:spPr>
          <a:xfrm>
            <a:off x="6632050" y="148625"/>
            <a:ext cx="2406000" cy="7059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lang="en" sz="1800">
                <a:solidFill>
                  <a:schemeClr val="dk1"/>
                </a:solidFill>
                <a:latin typeface="Calibri"/>
                <a:ea typeface="Calibri"/>
                <a:cs typeface="Calibri"/>
                <a:sym typeface="Calibri"/>
              </a:rPr>
              <a:t>ارائه درس بینایی کامپیوتر </a:t>
            </a:r>
            <a:br>
              <a:rPr lang="en" sz="1800">
                <a:solidFill>
                  <a:schemeClr val="dk1"/>
                </a:solidFill>
                <a:latin typeface="Calibri"/>
                <a:ea typeface="Calibri"/>
                <a:cs typeface="Calibri"/>
                <a:sym typeface="Calibri"/>
              </a:rPr>
            </a:br>
            <a:r>
              <a:rPr lang="en" sz="1800">
                <a:solidFill>
                  <a:schemeClr val="dk1"/>
                </a:solidFill>
                <a:latin typeface="Calibri"/>
                <a:ea typeface="Calibri"/>
                <a:cs typeface="Calibri"/>
                <a:sym typeface="Calibri"/>
              </a:rPr>
              <a:t>استاد: دکتر نادری</a:t>
            </a:r>
            <a:endParaRPr sz="1800">
              <a:solidFill>
                <a:schemeClr val="dk1"/>
              </a:solidFill>
              <a:latin typeface="Calibri"/>
              <a:ea typeface="Calibri"/>
              <a:cs typeface="Calibri"/>
              <a:sym typeface="Calibri"/>
            </a:endParaRPr>
          </a:p>
        </p:txBody>
      </p:sp>
      <p:sp>
        <p:nvSpPr>
          <p:cNvPr id="112" name="Google Shape;112;p19"/>
          <p:cNvSpPr txBox="1"/>
          <p:nvPr/>
        </p:nvSpPr>
        <p:spPr>
          <a:xfrm>
            <a:off x="333925" y="1501350"/>
            <a:ext cx="8511600" cy="9945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Clr>
                <a:schemeClr val="dk1"/>
              </a:buClr>
              <a:buSzPts val="1100"/>
              <a:buFont typeface="Arial"/>
              <a:buNone/>
            </a:pPr>
            <a:r>
              <a:rPr b="1" lang="en" sz="1800">
                <a:solidFill>
                  <a:schemeClr val="dk1"/>
                </a:solidFill>
                <a:latin typeface="Calibri"/>
                <a:ea typeface="Calibri"/>
                <a:cs typeface="Calibri"/>
                <a:sym typeface="Calibri"/>
              </a:rPr>
              <a:t>کنترل دقیق بر محتوا، ویژگی‌ها و سبک</a:t>
            </a:r>
            <a:endParaRPr b="1"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سه شرط کلیدی برای تولید تصویر متن:</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شرط تصویر</a:t>
            </a:r>
            <a:r>
              <a:rPr lang="en" sz="1800">
                <a:solidFill>
                  <a:schemeClr val="dk1"/>
                </a:solidFill>
                <a:latin typeface="Calibri"/>
                <a:ea typeface="Calibri"/>
                <a:cs typeface="Calibri"/>
                <a:sym typeface="Calibri"/>
              </a:rPr>
              <a:t> (Image Condition): کنترل ویژگی‌های بصری کلی و پس‌زمینه.</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شرط متن</a:t>
            </a:r>
            <a:r>
              <a:rPr lang="en" sz="1800">
                <a:solidFill>
                  <a:schemeClr val="dk1"/>
                </a:solidFill>
                <a:latin typeface="Calibri"/>
                <a:ea typeface="Calibri"/>
                <a:cs typeface="Calibri"/>
                <a:sym typeface="Calibri"/>
              </a:rPr>
              <a:t> (Text Condition): کنترل محتوای معنایی (چه کلماتی نوشته شوند).</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 شرط سبک</a:t>
            </a:r>
            <a:r>
              <a:rPr lang="en" sz="1800">
                <a:solidFill>
                  <a:schemeClr val="dk1"/>
                </a:solidFill>
                <a:latin typeface="Calibri"/>
                <a:ea typeface="Calibri"/>
                <a:cs typeface="Calibri"/>
                <a:sym typeface="Calibri"/>
              </a:rPr>
              <a:t> (Style Condition): کنترل ظاهر و فونت (مثلاً دست‌خط خاص).</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فراتر از مدل‌های سنتی:</a:t>
            </a:r>
            <a:r>
              <a:rPr lang="en" sz="1800">
                <a:solidFill>
                  <a:schemeClr val="dk1"/>
                </a:solidFill>
                <a:latin typeface="Calibri"/>
                <a:ea typeface="Calibri"/>
                <a:cs typeface="Calibri"/>
                <a:sym typeface="Calibri"/>
              </a:rPr>
              <a:t> برخلاف مدل‌های هدایت‌شونده (Guided-Diffusion) یا UnCLIP که روی کل تصویر تمرکز دارند، CTIG-DM بر ویژگی‌های کاراکتر-محور متن تمرکز می‌کند.</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rtl="1" algn="r">
              <a:spcBef>
                <a:spcPts val="0"/>
              </a:spcBef>
              <a:spcAft>
                <a:spcPts val="0"/>
              </a:spcAft>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مدل پایه:</a:t>
            </a:r>
            <a:r>
              <a:rPr lang="en" sz="1800">
                <a:solidFill>
                  <a:schemeClr val="dk1"/>
                </a:solidFill>
                <a:latin typeface="Calibri"/>
                <a:ea typeface="Calibri"/>
                <a:cs typeface="Calibri"/>
                <a:sym typeface="Calibri"/>
              </a:rPr>
              <a:t> استفاده از ساختار Denoising Diffusion Probabilistic Models (DDPM) به عنوان هسته مولد.</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p:nvPr/>
        </p:nvSpPr>
        <p:spPr>
          <a:xfrm>
            <a:off x="2425" y="-7250"/>
            <a:ext cx="9144000" cy="12264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 name="Google Shape;118;p20"/>
          <p:cNvSpPr txBox="1"/>
          <p:nvPr/>
        </p:nvSpPr>
        <p:spPr>
          <a:xfrm>
            <a:off x="2491200" y="233975"/>
            <a:ext cx="4161600" cy="535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1" algn="ctr">
              <a:spcBef>
                <a:spcPts val="0"/>
              </a:spcBef>
              <a:spcAft>
                <a:spcPts val="0"/>
              </a:spcAft>
              <a:buNone/>
            </a:pPr>
            <a:r>
              <a:rPr lang="en" sz="1800">
                <a:solidFill>
                  <a:schemeClr val="dk1"/>
                </a:solidFill>
                <a:latin typeface="Calibri"/>
                <a:ea typeface="Calibri"/>
                <a:cs typeface="Calibri"/>
                <a:sym typeface="Calibri"/>
              </a:rPr>
              <a:t>اسلاید ۸: حالت‌های عملیاتی و دستاوردها</a:t>
            </a:r>
            <a:endParaRPr sz="1800">
              <a:solidFill>
                <a:schemeClr val="dk1"/>
              </a:solidFill>
              <a:latin typeface="Calibri"/>
              <a:ea typeface="Calibri"/>
              <a:cs typeface="Calibri"/>
              <a:sym typeface="Calibri"/>
            </a:endParaRPr>
          </a:p>
        </p:txBody>
      </p:sp>
      <p:pic>
        <p:nvPicPr>
          <p:cNvPr id="119" name="Google Shape;119;p20" title="275_010550ef7891d0a7f6dc1fc27b97aa6a.png"/>
          <p:cNvPicPr preferRelativeResize="0"/>
          <p:nvPr/>
        </p:nvPicPr>
        <p:blipFill>
          <a:blip r:embed="rId3">
            <a:alphaModFix/>
          </a:blip>
          <a:stretch>
            <a:fillRect/>
          </a:stretch>
        </p:blipFill>
        <p:spPr>
          <a:xfrm>
            <a:off x="333925" y="71425"/>
            <a:ext cx="1069050" cy="1069050"/>
          </a:xfrm>
          <a:prstGeom prst="rect">
            <a:avLst/>
          </a:prstGeom>
          <a:noFill/>
          <a:ln>
            <a:noFill/>
          </a:ln>
        </p:spPr>
      </p:pic>
      <p:sp>
        <p:nvSpPr>
          <p:cNvPr id="120" name="Google Shape;120;p20"/>
          <p:cNvSpPr txBox="1"/>
          <p:nvPr/>
        </p:nvSpPr>
        <p:spPr>
          <a:xfrm>
            <a:off x="6632050" y="148625"/>
            <a:ext cx="2406000" cy="7059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lang="en" sz="1800">
                <a:solidFill>
                  <a:schemeClr val="dk1"/>
                </a:solidFill>
                <a:latin typeface="Calibri"/>
                <a:ea typeface="Calibri"/>
                <a:cs typeface="Calibri"/>
                <a:sym typeface="Calibri"/>
              </a:rPr>
              <a:t>ارائه درس بینایی کامپیوتر </a:t>
            </a:r>
            <a:br>
              <a:rPr lang="en" sz="1800">
                <a:solidFill>
                  <a:schemeClr val="dk1"/>
                </a:solidFill>
                <a:latin typeface="Calibri"/>
                <a:ea typeface="Calibri"/>
                <a:cs typeface="Calibri"/>
                <a:sym typeface="Calibri"/>
              </a:rPr>
            </a:br>
            <a:r>
              <a:rPr lang="en" sz="1800">
                <a:solidFill>
                  <a:schemeClr val="dk1"/>
                </a:solidFill>
                <a:latin typeface="Calibri"/>
                <a:ea typeface="Calibri"/>
                <a:cs typeface="Calibri"/>
                <a:sym typeface="Calibri"/>
              </a:rPr>
              <a:t>استاد: دکتر نادری</a:t>
            </a:r>
            <a:endParaRPr sz="1800">
              <a:solidFill>
                <a:schemeClr val="dk1"/>
              </a:solidFill>
              <a:latin typeface="Calibri"/>
              <a:ea typeface="Calibri"/>
              <a:cs typeface="Calibri"/>
              <a:sym typeface="Calibri"/>
            </a:endParaRPr>
          </a:p>
        </p:txBody>
      </p:sp>
      <p:sp>
        <p:nvSpPr>
          <p:cNvPr id="121" name="Google Shape;121;p20"/>
          <p:cNvSpPr txBox="1"/>
          <p:nvPr/>
        </p:nvSpPr>
        <p:spPr>
          <a:xfrm>
            <a:off x="333925" y="1501350"/>
            <a:ext cx="8511600" cy="9945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Clr>
                <a:schemeClr val="dk1"/>
              </a:buClr>
              <a:buSzPts val="1100"/>
              <a:buFont typeface="Arial"/>
              <a:buNone/>
            </a:pPr>
            <a:r>
              <a:rPr b="1" lang="en" sz="2000">
                <a:solidFill>
                  <a:schemeClr val="dk1"/>
                </a:solidFill>
                <a:latin typeface="Calibri"/>
                <a:ea typeface="Calibri"/>
                <a:cs typeface="Calibri"/>
                <a:sym typeface="Calibri"/>
              </a:rPr>
              <a:t>کاربردها و توانمندی‌های مدل CTIG-DM</a:t>
            </a:r>
            <a:endParaRPr b="1" sz="20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b="1" lang="en" sz="1800">
                <a:solidFill>
                  <a:schemeClr val="dk1"/>
                </a:solidFill>
                <a:latin typeface="Calibri"/>
                <a:ea typeface="Calibri"/>
                <a:cs typeface="Calibri"/>
                <a:sym typeface="Calibri"/>
              </a:rPr>
              <a:t>    چهار حالت تولید (Derived Modes):</a:t>
            </a:r>
            <a:endParaRPr b="1"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Synthesis (سنتز)</a:t>
            </a:r>
            <a:r>
              <a:rPr lang="en" sz="1800">
                <a:solidFill>
                  <a:schemeClr val="dk1"/>
                </a:solidFill>
                <a:latin typeface="Calibri"/>
                <a:ea typeface="Calibri"/>
                <a:cs typeface="Calibri"/>
                <a:sym typeface="Calibri"/>
              </a:rPr>
              <a:t>: تولید کلمات جدید برای افزایش بانک داده.</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Augmentation (داده‌افزایی)</a:t>
            </a:r>
            <a:r>
              <a:rPr lang="en" sz="1800">
                <a:solidFill>
                  <a:schemeClr val="dk1"/>
                </a:solidFill>
                <a:latin typeface="Calibri"/>
                <a:ea typeface="Calibri"/>
                <a:cs typeface="Calibri"/>
                <a:sym typeface="Calibri"/>
              </a:rPr>
              <a:t>: ایجاد تنوع در داده‌های موجود.</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Recovery (بازیابی)</a:t>
            </a:r>
            <a:r>
              <a:rPr lang="en" sz="1800">
                <a:solidFill>
                  <a:schemeClr val="dk1"/>
                </a:solidFill>
                <a:latin typeface="Calibri"/>
                <a:ea typeface="Calibri"/>
                <a:cs typeface="Calibri"/>
                <a:sym typeface="Calibri"/>
              </a:rPr>
              <a:t>: اصلاح و بازسازی متون آسیب‌دیده.</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Imitation (تقلید)</a:t>
            </a:r>
            <a:r>
              <a:rPr lang="en" sz="1800">
                <a:solidFill>
                  <a:schemeClr val="dk1"/>
                </a:solidFill>
                <a:latin typeface="Calibri"/>
                <a:ea typeface="Calibri"/>
                <a:cs typeface="Calibri"/>
                <a:sym typeface="Calibri"/>
              </a:rPr>
              <a:t>: کپی‌برداری از سبک یک نویسنده خاص.</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نقاط قوت منحصربه‌فرد</a:t>
            </a:r>
            <a:r>
              <a:rPr lang="en"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مدیریت کلمات خارج از لغت‌نامه (OOV)</a:t>
            </a:r>
            <a:r>
              <a:rPr lang="en" sz="1800">
                <a:solidFill>
                  <a:schemeClr val="dk1"/>
                </a:solidFill>
                <a:latin typeface="Calibri"/>
                <a:ea typeface="Calibri"/>
                <a:cs typeface="Calibri"/>
                <a:sym typeface="Calibri"/>
              </a:rPr>
              <a:t>: توانایی تولید کلماتی که در دیتای آموزشی نبوده‌اند.</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انطباق دامنه (Domain Adaptation)</a:t>
            </a:r>
            <a:r>
              <a:rPr lang="en" sz="1800">
                <a:solidFill>
                  <a:schemeClr val="dk1"/>
                </a:solidFill>
                <a:latin typeface="Calibri"/>
                <a:ea typeface="Calibri"/>
                <a:cs typeface="Calibri"/>
                <a:sym typeface="Calibri"/>
              </a:rPr>
              <a:t>: سازگاری بالا با محیط‌های بصری مختلف (متن در صحنه یا دست‌نویس).</a:t>
            </a:r>
            <a:endParaRPr sz="1800">
              <a:solidFill>
                <a:schemeClr val="dk1"/>
              </a:solidFill>
              <a:latin typeface="Calibri"/>
              <a:ea typeface="Calibri"/>
              <a:cs typeface="Calibri"/>
              <a:sym typeface="Calibri"/>
            </a:endParaRPr>
          </a:p>
          <a:p>
            <a:pPr indent="0" lvl="0" marL="0" rtl="1" algn="r">
              <a:spcBef>
                <a:spcPts val="0"/>
              </a:spcBef>
              <a:spcAft>
                <a:spcPts val="0"/>
              </a:spcAft>
              <a:buNone/>
            </a:pPr>
            <a:r>
              <a:rPr b="1" lang="en" sz="1800">
                <a:solidFill>
                  <a:schemeClr val="dk1"/>
                </a:solidFill>
                <a:latin typeface="Calibri"/>
                <a:ea typeface="Calibri"/>
                <a:cs typeface="Calibri"/>
                <a:sym typeface="Calibri"/>
              </a:rPr>
              <a:t>نتیجه نهایی:</a:t>
            </a:r>
            <a:r>
              <a:rPr lang="en" sz="1800">
                <a:solidFill>
                  <a:schemeClr val="dk1"/>
                </a:solidFill>
                <a:latin typeface="Calibri"/>
                <a:ea typeface="Calibri"/>
                <a:cs typeface="Calibri"/>
                <a:sym typeface="Calibri"/>
              </a:rPr>
              <a:t> تصاویر تولیدی به قدری به واقعیت نزدیک هستند که باعث بهبود چشمگیر عملکرد مدل‌های تشخیص متن (Recognizers) می‌شوند.</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p:nvPr/>
        </p:nvSpPr>
        <p:spPr>
          <a:xfrm>
            <a:off x="2425" y="-7250"/>
            <a:ext cx="9144000" cy="12264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1"/>
          <p:cNvSpPr txBox="1"/>
          <p:nvPr/>
        </p:nvSpPr>
        <p:spPr>
          <a:xfrm>
            <a:off x="2963850" y="239525"/>
            <a:ext cx="3216300" cy="524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1" algn="ctr">
              <a:spcBef>
                <a:spcPts val="0"/>
              </a:spcBef>
              <a:spcAft>
                <a:spcPts val="0"/>
              </a:spcAft>
              <a:buNone/>
            </a:pPr>
            <a:r>
              <a:rPr lang="en" sz="1800">
                <a:solidFill>
                  <a:schemeClr val="dk1"/>
                </a:solidFill>
                <a:latin typeface="Calibri"/>
                <a:ea typeface="Calibri"/>
                <a:cs typeface="Calibri"/>
                <a:sym typeface="Calibri"/>
              </a:rPr>
              <a:t>اسلاید ۹:معرفی و مفهوم "هدایت"</a:t>
            </a:r>
            <a:endParaRPr sz="1800">
              <a:solidFill>
                <a:schemeClr val="dk1"/>
              </a:solidFill>
              <a:latin typeface="Calibri"/>
              <a:ea typeface="Calibri"/>
              <a:cs typeface="Calibri"/>
              <a:sym typeface="Calibri"/>
            </a:endParaRPr>
          </a:p>
        </p:txBody>
      </p:sp>
      <p:pic>
        <p:nvPicPr>
          <p:cNvPr id="128" name="Google Shape;128;p21" title="275_010550ef7891d0a7f6dc1fc27b97aa6a.png"/>
          <p:cNvPicPr preferRelativeResize="0"/>
          <p:nvPr/>
        </p:nvPicPr>
        <p:blipFill>
          <a:blip r:embed="rId3">
            <a:alphaModFix/>
          </a:blip>
          <a:stretch>
            <a:fillRect/>
          </a:stretch>
        </p:blipFill>
        <p:spPr>
          <a:xfrm>
            <a:off x="333925" y="71425"/>
            <a:ext cx="1069050" cy="1069050"/>
          </a:xfrm>
          <a:prstGeom prst="rect">
            <a:avLst/>
          </a:prstGeom>
          <a:noFill/>
          <a:ln>
            <a:noFill/>
          </a:ln>
        </p:spPr>
      </p:pic>
      <p:sp>
        <p:nvSpPr>
          <p:cNvPr id="129" name="Google Shape;129;p21"/>
          <p:cNvSpPr txBox="1"/>
          <p:nvPr/>
        </p:nvSpPr>
        <p:spPr>
          <a:xfrm>
            <a:off x="6632050" y="148625"/>
            <a:ext cx="2406000" cy="7059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lang="en" sz="1800">
                <a:solidFill>
                  <a:schemeClr val="dk1"/>
                </a:solidFill>
                <a:latin typeface="Calibri"/>
                <a:ea typeface="Calibri"/>
                <a:cs typeface="Calibri"/>
                <a:sym typeface="Calibri"/>
              </a:rPr>
              <a:t>ارائه درس بینایی کامپیوتر </a:t>
            </a:r>
            <a:br>
              <a:rPr lang="en" sz="1800">
                <a:solidFill>
                  <a:schemeClr val="dk1"/>
                </a:solidFill>
                <a:latin typeface="Calibri"/>
                <a:ea typeface="Calibri"/>
                <a:cs typeface="Calibri"/>
                <a:sym typeface="Calibri"/>
              </a:rPr>
            </a:br>
            <a:r>
              <a:rPr lang="en" sz="1800">
                <a:solidFill>
                  <a:schemeClr val="dk1"/>
                </a:solidFill>
                <a:latin typeface="Calibri"/>
                <a:ea typeface="Calibri"/>
                <a:cs typeface="Calibri"/>
                <a:sym typeface="Calibri"/>
              </a:rPr>
              <a:t>استاد: دکتر نادری</a:t>
            </a:r>
            <a:endParaRPr sz="1800">
              <a:solidFill>
                <a:schemeClr val="dk1"/>
              </a:solidFill>
              <a:latin typeface="Calibri"/>
              <a:ea typeface="Calibri"/>
              <a:cs typeface="Calibri"/>
              <a:sym typeface="Calibri"/>
            </a:endParaRPr>
          </a:p>
        </p:txBody>
      </p:sp>
      <p:sp>
        <p:nvSpPr>
          <p:cNvPr id="130" name="Google Shape;130;p21"/>
          <p:cNvSpPr txBox="1"/>
          <p:nvPr/>
        </p:nvSpPr>
        <p:spPr>
          <a:xfrm>
            <a:off x="333925" y="1501350"/>
            <a:ext cx="8511600" cy="9945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Clr>
                <a:schemeClr val="dk1"/>
              </a:buClr>
              <a:buSzPts val="1100"/>
              <a:buFont typeface="Arial"/>
              <a:buNone/>
            </a:pPr>
            <a:r>
              <a:rPr b="1" lang="en" sz="2000">
                <a:solidFill>
                  <a:schemeClr val="dk1"/>
                </a:solidFill>
                <a:latin typeface="Calibri"/>
                <a:ea typeface="Calibri"/>
                <a:cs typeface="Calibri"/>
                <a:sym typeface="Calibri"/>
              </a:rPr>
              <a:t>Steered Diffusion: چارچوب جامع Plug-and-Play</a:t>
            </a:r>
            <a:endParaRPr b="1" sz="20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 مفهوم تولید Zero-shot</a:t>
            </a:r>
            <a:r>
              <a:rPr lang="en" sz="1800">
                <a:solidFill>
                  <a:schemeClr val="dk1"/>
                </a:solidFill>
                <a:latin typeface="Calibri"/>
                <a:ea typeface="Calibri"/>
                <a:cs typeface="Calibri"/>
                <a:sym typeface="Calibri"/>
              </a:rPr>
              <a:t>: برخلاف مدل‌های رایج که برای هر شرط جدید نیاز به دیتای برچسب‌دار انبوه دارند، این مقاله روشی برای تولید تصویر شرطی "بدون آموزش مجدد" ارائه می‌دهد.</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ایده اصلی (Plug-and-Play)</a:t>
            </a:r>
            <a:r>
              <a:rPr lang="en" sz="1800">
                <a:solidFill>
                  <a:schemeClr val="dk1"/>
                </a:solidFill>
                <a:latin typeface="Calibri"/>
                <a:ea typeface="Calibri"/>
                <a:cs typeface="Calibri"/>
                <a:sym typeface="Calibri"/>
              </a:rPr>
              <a:t>: استفاده از یک مدل انتشار که به صورت Unconditional (بدون شرط) آموزش دیده و هدایت آن در زمان "استنتاج" (Inference) به سمت هدف مورد نظر.</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rtl="1" algn="r">
              <a:spcBef>
                <a:spcPts val="0"/>
              </a:spcBef>
              <a:spcAft>
                <a:spcPts val="0"/>
              </a:spcAft>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تکنیک کلیدی:</a:t>
            </a:r>
            <a:r>
              <a:rPr lang="en" sz="1800">
                <a:solidFill>
                  <a:schemeClr val="dk1"/>
                </a:solidFill>
                <a:latin typeface="Calibri"/>
                <a:ea typeface="Calibri"/>
                <a:cs typeface="Calibri"/>
                <a:sym typeface="Calibri"/>
              </a:rPr>
              <a:t> طراحی یک "تابع ضرر" (Loss) با استفاده از مدل‌های از پیش آموزش دیده (مثل مدل‌های کلاسیفایر یا کپشن‌نویسی) برای کنترل مسیر تولید تصویر.</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2"/>
          <p:cNvSpPr/>
          <p:nvPr/>
        </p:nvSpPr>
        <p:spPr>
          <a:xfrm>
            <a:off x="2425" y="-7250"/>
            <a:ext cx="9144000" cy="12264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22"/>
          <p:cNvSpPr txBox="1"/>
          <p:nvPr/>
        </p:nvSpPr>
        <p:spPr>
          <a:xfrm>
            <a:off x="2247375" y="239525"/>
            <a:ext cx="4660500" cy="524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Calibri"/>
                <a:ea typeface="Calibri"/>
                <a:cs typeface="Calibri"/>
                <a:sym typeface="Calibri"/>
              </a:rPr>
              <a:t>اسلاید۱۰: سازوکار فنی و نظریه انرژی </a:t>
            </a:r>
            <a:endParaRPr sz="1800">
              <a:solidFill>
                <a:schemeClr val="dk1"/>
              </a:solidFill>
              <a:latin typeface="Calibri"/>
              <a:ea typeface="Calibri"/>
              <a:cs typeface="Calibri"/>
              <a:sym typeface="Calibri"/>
            </a:endParaRPr>
          </a:p>
        </p:txBody>
      </p:sp>
      <p:pic>
        <p:nvPicPr>
          <p:cNvPr id="137" name="Google Shape;137;p22" title="275_010550ef7891d0a7f6dc1fc27b97aa6a.png"/>
          <p:cNvPicPr preferRelativeResize="0"/>
          <p:nvPr/>
        </p:nvPicPr>
        <p:blipFill>
          <a:blip r:embed="rId3">
            <a:alphaModFix/>
          </a:blip>
          <a:stretch>
            <a:fillRect/>
          </a:stretch>
        </p:blipFill>
        <p:spPr>
          <a:xfrm>
            <a:off x="333925" y="71425"/>
            <a:ext cx="1069050" cy="1069050"/>
          </a:xfrm>
          <a:prstGeom prst="rect">
            <a:avLst/>
          </a:prstGeom>
          <a:noFill/>
          <a:ln>
            <a:noFill/>
          </a:ln>
        </p:spPr>
      </p:pic>
      <p:sp>
        <p:nvSpPr>
          <p:cNvPr id="138" name="Google Shape;138;p22"/>
          <p:cNvSpPr txBox="1"/>
          <p:nvPr/>
        </p:nvSpPr>
        <p:spPr>
          <a:xfrm>
            <a:off x="6632050" y="148625"/>
            <a:ext cx="2406000" cy="7059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lang="en" sz="1800">
                <a:solidFill>
                  <a:schemeClr val="dk1"/>
                </a:solidFill>
                <a:latin typeface="Calibri"/>
                <a:ea typeface="Calibri"/>
                <a:cs typeface="Calibri"/>
                <a:sym typeface="Calibri"/>
              </a:rPr>
              <a:t>ارائه درس بینایی کامپیوتر </a:t>
            </a:r>
            <a:br>
              <a:rPr lang="en" sz="1800">
                <a:solidFill>
                  <a:schemeClr val="dk1"/>
                </a:solidFill>
                <a:latin typeface="Calibri"/>
                <a:ea typeface="Calibri"/>
                <a:cs typeface="Calibri"/>
                <a:sym typeface="Calibri"/>
              </a:rPr>
            </a:br>
            <a:r>
              <a:rPr lang="en" sz="1800">
                <a:solidFill>
                  <a:schemeClr val="dk1"/>
                </a:solidFill>
                <a:latin typeface="Calibri"/>
                <a:ea typeface="Calibri"/>
                <a:cs typeface="Calibri"/>
                <a:sym typeface="Calibri"/>
              </a:rPr>
              <a:t>استاد: دکتر نادری</a:t>
            </a:r>
            <a:endParaRPr sz="1800">
              <a:solidFill>
                <a:schemeClr val="dk1"/>
              </a:solidFill>
              <a:latin typeface="Calibri"/>
              <a:ea typeface="Calibri"/>
              <a:cs typeface="Calibri"/>
              <a:sym typeface="Calibri"/>
            </a:endParaRPr>
          </a:p>
        </p:txBody>
      </p:sp>
      <p:sp>
        <p:nvSpPr>
          <p:cNvPr id="139" name="Google Shape;139;p22"/>
          <p:cNvSpPr txBox="1"/>
          <p:nvPr/>
        </p:nvSpPr>
        <p:spPr>
          <a:xfrm>
            <a:off x="333925" y="1501350"/>
            <a:ext cx="8511600" cy="9945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Clr>
                <a:schemeClr val="dk1"/>
              </a:buClr>
              <a:buSzPts val="1100"/>
              <a:buFont typeface="Arial"/>
              <a:buNone/>
            </a:pPr>
            <a:r>
              <a:rPr b="1" lang="en" sz="2000">
                <a:solidFill>
                  <a:schemeClr val="dk1"/>
                </a:solidFill>
                <a:latin typeface="Calibri"/>
                <a:ea typeface="Calibri"/>
                <a:cs typeface="Calibri"/>
                <a:sym typeface="Calibri"/>
              </a:rPr>
              <a:t>هدایت مسیر انتشار با استفاده از بهینه‌سازی گرادیان</a:t>
            </a:r>
            <a:endParaRPr b="1" sz="20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فرمول‌بندی مبتنی بر انرژی:</a:t>
            </a:r>
            <a:r>
              <a:rPr lang="en" sz="1800">
                <a:solidFill>
                  <a:schemeClr val="dk1"/>
                </a:solidFill>
                <a:latin typeface="Calibri"/>
                <a:ea typeface="Calibri"/>
                <a:cs typeface="Calibri"/>
                <a:sym typeface="Calibri"/>
              </a:rPr>
              <a:t> هر توزیع احتمالی را می‌توان به عنوان یک "میدان انرژی" در نظر گرفت که تراکم نقاط در فضا را نشان می‌دهد.</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هدایت ضمنی (Implicit Steering Control):</a:t>
            </a:r>
            <a:r>
              <a:rPr lang="en" sz="1800">
                <a:solidFill>
                  <a:schemeClr val="dk1"/>
                </a:solidFill>
                <a:latin typeface="Calibri"/>
                <a:ea typeface="Calibri"/>
                <a:cs typeface="Calibri"/>
                <a:sym typeface="Calibri"/>
              </a:rPr>
              <a:t> * برای انطباق با یک شرط خاص، از الگوریتم‌های بهینه‌سازی مبتنی بر گرادیان استفاده می‌شود.</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این گرادیان، مسیر حرکت در زنجیره مارکوف (فرآیند معکوس انتشار) را به سمت نقاطی با چگالی بالاتر برای آن شرط خاص "هول" می‌دهد.</a:t>
            </a:r>
            <a:endParaRPr sz="1800">
              <a:solidFill>
                <a:schemeClr val="dk1"/>
              </a:solidFill>
              <a:latin typeface="Calibri"/>
              <a:ea typeface="Calibri"/>
              <a:cs typeface="Calibri"/>
              <a:sym typeface="Calibri"/>
            </a:endParaRPr>
          </a:p>
          <a:p>
            <a:pPr indent="0" lvl="0" marL="0" rtl="1" algn="r">
              <a:spcBef>
                <a:spcPts val="0"/>
              </a:spcBef>
              <a:spcAft>
                <a:spcPts val="0"/>
              </a:spcAft>
              <a:buNone/>
            </a:pPr>
            <a:r>
              <a:rPr lang="en"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indent="0" lvl="0" marL="0" rtl="1" algn="r">
              <a:spcBef>
                <a:spcPts val="0"/>
              </a:spcBef>
              <a:spcAft>
                <a:spcPts val="0"/>
              </a:spcAft>
              <a:buNone/>
            </a:pPr>
            <a:r>
              <a:rPr lang="en" sz="1800">
                <a:solidFill>
                  <a:schemeClr val="dk1"/>
                </a:solidFill>
                <a:latin typeface="Calibri"/>
                <a:ea typeface="Calibri"/>
                <a:cs typeface="Calibri"/>
                <a:sym typeface="Calibri"/>
              </a:rPr>
              <a:t>  بهبود کیفیت: استفاده از استراتژی جدید Projected Gradient Descent در چندین گام برای افزایش دقت و کیفیت تصویر نهایی نسبت به روش‌های مشابه قبلی.</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3"/>
          <p:cNvSpPr/>
          <p:nvPr/>
        </p:nvSpPr>
        <p:spPr>
          <a:xfrm>
            <a:off x="2425" y="-7250"/>
            <a:ext cx="9144000" cy="12264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 name="Google Shape;145;p23"/>
          <p:cNvSpPr txBox="1"/>
          <p:nvPr/>
        </p:nvSpPr>
        <p:spPr>
          <a:xfrm>
            <a:off x="2851200" y="239525"/>
            <a:ext cx="3441600" cy="524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1" algn="ctr">
              <a:spcBef>
                <a:spcPts val="0"/>
              </a:spcBef>
              <a:spcAft>
                <a:spcPts val="0"/>
              </a:spcAft>
              <a:buNone/>
            </a:pPr>
            <a:r>
              <a:rPr lang="en" sz="1800">
                <a:solidFill>
                  <a:schemeClr val="dk1"/>
                </a:solidFill>
                <a:latin typeface="Calibri"/>
                <a:ea typeface="Calibri"/>
                <a:cs typeface="Calibri"/>
                <a:sym typeface="Calibri"/>
              </a:rPr>
              <a:t>اسلاید۱۱:ویژگی‌ها و کاربردهای گسترده</a:t>
            </a:r>
            <a:endParaRPr sz="1800">
              <a:solidFill>
                <a:schemeClr val="dk1"/>
              </a:solidFill>
              <a:latin typeface="Calibri"/>
              <a:ea typeface="Calibri"/>
              <a:cs typeface="Calibri"/>
              <a:sym typeface="Calibri"/>
            </a:endParaRPr>
          </a:p>
        </p:txBody>
      </p:sp>
      <p:pic>
        <p:nvPicPr>
          <p:cNvPr id="146" name="Google Shape;146;p23" title="275_010550ef7891d0a7f6dc1fc27b97aa6a.png"/>
          <p:cNvPicPr preferRelativeResize="0"/>
          <p:nvPr/>
        </p:nvPicPr>
        <p:blipFill>
          <a:blip r:embed="rId3">
            <a:alphaModFix/>
          </a:blip>
          <a:stretch>
            <a:fillRect/>
          </a:stretch>
        </p:blipFill>
        <p:spPr>
          <a:xfrm>
            <a:off x="333925" y="71425"/>
            <a:ext cx="1069050" cy="1069050"/>
          </a:xfrm>
          <a:prstGeom prst="rect">
            <a:avLst/>
          </a:prstGeom>
          <a:noFill/>
          <a:ln>
            <a:noFill/>
          </a:ln>
        </p:spPr>
      </p:pic>
      <p:sp>
        <p:nvSpPr>
          <p:cNvPr id="147" name="Google Shape;147;p23"/>
          <p:cNvSpPr txBox="1"/>
          <p:nvPr/>
        </p:nvSpPr>
        <p:spPr>
          <a:xfrm>
            <a:off x="6632050" y="148625"/>
            <a:ext cx="2406000" cy="7059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lang="en" sz="1800">
                <a:solidFill>
                  <a:schemeClr val="dk1"/>
                </a:solidFill>
                <a:latin typeface="Calibri"/>
                <a:ea typeface="Calibri"/>
                <a:cs typeface="Calibri"/>
                <a:sym typeface="Calibri"/>
              </a:rPr>
              <a:t>ارائه درس بینایی کامپیوتر </a:t>
            </a:r>
            <a:br>
              <a:rPr lang="en" sz="1800">
                <a:solidFill>
                  <a:schemeClr val="dk1"/>
                </a:solidFill>
                <a:latin typeface="Calibri"/>
                <a:ea typeface="Calibri"/>
                <a:cs typeface="Calibri"/>
                <a:sym typeface="Calibri"/>
              </a:rPr>
            </a:br>
            <a:r>
              <a:rPr lang="en" sz="1800">
                <a:solidFill>
                  <a:schemeClr val="dk1"/>
                </a:solidFill>
                <a:latin typeface="Calibri"/>
                <a:ea typeface="Calibri"/>
                <a:cs typeface="Calibri"/>
                <a:sym typeface="Calibri"/>
              </a:rPr>
              <a:t>استاد: دکتر نادری</a:t>
            </a:r>
            <a:endParaRPr sz="1800">
              <a:solidFill>
                <a:schemeClr val="dk1"/>
              </a:solidFill>
              <a:latin typeface="Calibri"/>
              <a:ea typeface="Calibri"/>
              <a:cs typeface="Calibri"/>
              <a:sym typeface="Calibri"/>
            </a:endParaRPr>
          </a:p>
        </p:txBody>
      </p:sp>
      <p:sp>
        <p:nvSpPr>
          <p:cNvPr id="148" name="Google Shape;148;p23"/>
          <p:cNvSpPr txBox="1"/>
          <p:nvPr/>
        </p:nvSpPr>
        <p:spPr>
          <a:xfrm>
            <a:off x="333925" y="1501350"/>
            <a:ext cx="8511600" cy="9945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Clr>
                <a:schemeClr val="dk1"/>
              </a:buClr>
              <a:buSzPts val="1100"/>
              <a:buFont typeface="Arial"/>
              <a:buNone/>
            </a:pPr>
            <a:r>
              <a:rPr b="1" lang="en" sz="1800">
                <a:solidFill>
                  <a:schemeClr val="dk1"/>
                </a:solidFill>
                <a:latin typeface="Calibri"/>
                <a:ea typeface="Calibri"/>
                <a:cs typeface="Calibri"/>
                <a:sym typeface="Calibri"/>
              </a:rPr>
              <a:t>انعطاف‌پذیری بالا در ویرایش و ترجمه تصویر</a:t>
            </a:r>
            <a:endParaRPr b="1"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نوآوری‌های برجسته:</a:t>
            </a:r>
            <a:endParaRPr b="1"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اولین روشی که هم برای تولید در سطح برچسب (Label-level) و هم برای "ترجمه تصویر به تصویر" (Image-to-Image) کاربرد دارد.</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قابلیت ترکیب چندین شرط به صورت همزمان در زمان اجرا.</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 طیف وسیع کاربردها:</a:t>
            </a:r>
            <a:endParaRPr b="1"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Inpainting &amp; Colorization</a:t>
            </a:r>
            <a:r>
              <a:rPr lang="en" sz="1800">
                <a:solidFill>
                  <a:schemeClr val="dk1"/>
                </a:solidFill>
                <a:latin typeface="Calibri"/>
                <a:ea typeface="Calibri"/>
                <a:cs typeface="Calibri"/>
                <a:sym typeface="Calibri"/>
              </a:rPr>
              <a:t>: ترمیم بخش‌های حذف شده و رنگ‌آمیزی.</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Super-resolution</a:t>
            </a:r>
            <a:r>
              <a:rPr lang="en" sz="1800">
                <a:solidFill>
                  <a:schemeClr val="dk1"/>
                </a:solidFill>
                <a:latin typeface="Calibri"/>
                <a:ea typeface="Calibri"/>
                <a:cs typeface="Calibri"/>
                <a:sym typeface="Calibri"/>
              </a:rPr>
              <a:t>: افزایش وضوح تصویر.</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Semantic Editing</a:t>
            </a:r>
            <a:r>
              <a:rPr lang="en" sz="1800">
                <a:solidFill>
                  <a:schemeClr val="dk1"/>
                </a:solidFill>
                <a:latin typeface="Calibri"/>
                <a:ea typeface="Calibri"/>
                <a:cs typeface="Calibri"/>
                <a:sym typeface="Calibri"/>
              </a:rPr>
              <a:t>: ویرایش معنایی بر اساس متن (مثلاً تغییر رنگ مو یا حالت چهره).</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rtl="1" algn="r">
              <a:spcBef>
                <a:spcPts val="0"/>
              </a:spcBef>
              <a:spcAft>
                <a:spcPts val="0"/>
              </a:spcAft>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مزیت رقابتی</a:t>
            </a:r>
            <a:r>
              <a:rPr lang="en" sz="1800">
                <a:solidFill>
                  <a:schemeClr val="dk1"/>
                </a:solidFill>
                <a:latin typeface="Calibri"/>
                <a:ea typeface="Calibri"/>
                <a:cs typeface="Calibri"/>
                <a:sym typeface="Calibri"/>
              </a:rPr>
              <a:t>: حذف نیاز به جفت‌داده‌های حجیم (Paired Data) و امکان استفاده از مدل‌های موجود به عنوان ماژول‌های کمکی.</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4"/>
          <p:cNvSpPr/>
          <p:nvPr/>
        </p:nvSpPr>
        <p:spPr>
          <a:xfrm>
            <a:off x="2425" y="-7250"/>
            <a:ext cx="9144000" cy="12264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24"/>
          <p:cNvSpPr txBox="1"/>
          <p:nvPr/>
        </p:nvSpPr>
        <p:spPr>
          <a:xfrm>
            <a:off x="2523150" y="239525"/>
            <a:ext cx="4097700" cy="524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1" algn="ctr">
              <a:spcBef>
                <a:spcPts val="0"/>
              </a:spcBef>
              <a:spcAft>
                <a:spcPts val="0"/>
              </a:spcAft>
              <a:buNone/>
            </a:pPr>
            <a:r>
              <a:rPr lang="en" sz="1800">
                <a:solidFill>
                  <a:schemeClr val="dk1"/>
                </a:solidFill>
                <a:latin typeface="Calibri"/>
                <a:ea typeface="Calibri"/>
                <a:cs typeface="Calibri"/>
                <a:sym typeface="Calibri"/>
              </a:rPr>
              <a:t>اسلاید ۱۳: تحلیل </a:t>
            </a:r>
            <a:r>
              <a:rPr lang="en" sz="1800">
                <a:solidFill>
                  <a:schemeClr val="dk1"/>
                </a:solidFill>
                <a:latin typeface="Calibri"/>
                <a:ea typeface="Calibri"/>
                <a:cs typeface="Calibri"/>
                <a:sym typeface="Calibri"/>
              </a:rPr>
              <a:t>چند لایه</a:t>
            </a:r>
            <a:r>
              <a:rPr lang="en" sz="1800">
                <a:solidFill>
                  <a:schemeClr val="dk1"/>
                </a:solidFill>
                <a:latin typeface="Calibri"/>
                <a:ea typeface="Calibri"/>
                <a:cs typeface="Calibri"/>
                <a:sym typeface="Calibri"/>
              </a:rPr>
              <a:t> مکانیزم‌های کنترل</a:t>
            </a:r>
            <a:endParaRPr sz="1800">
              <a:solidFill>
                <a:schemeClr val="dk1"/>
              </a:solidFill>
              <a:latin typeface="Calibri"/>
              <a:ea typeface="Calibri"/>
              <a:cs typeface="Calibri"/>
              <a:sym typeface="Calibri"/>
            </a:endParaRPr>
          </a:p>
        </p:txBody>
      </p:sp>
      <p:pic>
        <p:nvPicPr>
          <p:cNvPr id="155" name="Google Shape;155;p24" title="275_010550ef7891d0a7f6dc1fc27b97aa6a.png"/>
          <p:cNvPicPr preferRelativeResize="0"/>
          <p:nvPr/>
        </p:nvPicPr>
        <p:blipFill>
          <a:blip r:embed="rId3">
            <a:alphaModFix/>
          </a:blip>
          <a:stretch>
            <a:fillRect/>
          </a:stretch>
        </p:blipFill>
        <p:spPr>
          <a:xfrm>
            <a:off x="333925" y="71425"/>
            <a:ext cx="1069050" cy="1069050"/>
          </a:xfrm>
          <a:prstGeom prst="rect">
            <a:avLst/>
          </a:prstGeom>
          <a:noFill/>
          <a:ln>
            <a:noFill/>
          </a:ln>
        </p:spPr>
      </p:pic>
      <p:sp>
        <p:nvSpPr>
          <p:cNvPr id="156" name="Google Shape;156;p24"/>
          <p:cNvSpPr txBox="1"/>
          <p:nvPr/>
        </p:nvSpPr>
        <p:spPr>
          <a:xfrm>
            <a:off x="6632050" y="148625"/>
            <a:ext cx="2406000" cy="7059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lang="en" sz="1800">
                <a:solidFill>
                  <a:schemeClr val="dk1"/>
                </a:solidFill>
                <a:latin typeface="Calibri"/>
                <a:ea typeface="Calibri"/>
                <a:cs typeface="Calibri"/>
                <a:sym typeface="Calibri"/>
              </a:rPr>
              <a:t>ارائه درس بینایی کامپیوتر </a:t>
            </a:r>
            <a:br>
              <a:rPr lang="en" sz="1800">
                <a:solidFill>
                  <a:schemeClr val="dk1"/>
                </a:solidFill>
                <a:latin typeface="Calibri"/>
                <a:ea typeface="Calibri"/>
                <a:cs typeface="Calibri"/>
                <a:sym typeface="Calibri"/>
              </a:rPr>
            </a:br>
            <a:r>
              <a:rPr lang="en" sz="1800">
                <a:solidFill>
                  <a:schemeClr val="dk1"/>
                </a:solidFill>
                <a:latin typeface="Calibri"/>
                <a:ea typeface="Calibri"/>
                <a:cs typeface="Calibri"/>
                <a:sym typeface="Calibri"/>
              </a:rPr>
              <a:t>استاد: دکتر نادری</a:t>
            </a:r>
            <a:endParaRPr sz="1800">
              <a:solidFill>
                <a:schemeClr val="dk1"/>
              </a:solidFill>
              <a:latin typeface="Calibri"/>
              <a:ea typeface="Calibri"/>
              <a:cs typeface="Calibri"/>
              <a:sym typeface="Calibri"/>
            </a:endParaRPr>
          </a:p>
        </p:txBody>
      </p:sp>
      <p:sp>
        <p:nvSpPr>
          <p:cNvPr id="157" name="Google Shape;157;p24"/>
          <p:cNvSpPr txBox="1"/>
          <p:nvPr/>
        </p:nvSpPr>
        <p:spPr>
          <a:xfrm>
            <a:off x="333925" y="1501350"/>
            <a:ext cx="8511600" cy="9945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Clr>
                <a:schemeClr val="dk1"/>
              </a:buClr>
              <a:buSzPts val="1100"/>
              <a:buFont typeface="Arial"/>
              <a:buNone/>
            </a:pPr>
            <a:r>
              <a:rPr b="1" lang="en" sz="1800">
                <a:solidFill>
                  <a:schemeClr val="dk1"/>
                </a:solidFill>
                <a:latin typeface="Calibri"/>
                <a:ea typeface="Calibri"/>
                <a:cs typeface="Calibri"/>
                <a:sym typeface="Calibri"/>
              </a:rPr>
              <a:t>از کنترل ساختاری تا هدایت معنایی: نقش روش‌ها در اکوسیستم مدل انتشار</a:t>
            </a:r>
            <a:endParaRPr b="1"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ControlNet (کنترل سخت و هندسی):</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نقش:</a:t>
            </a:r>
            <a:r>
              <a:rPr lang="en" sz="1800">
                <a:solidFill>
                  <a:schemeClr val="dk1"/>
                </a:solidFill>
                <a:latin typeface="Calibri"/>
                <a:ea typeface="Calibri"/>
                <a:cs typeface="Calibri"/>
                <a:sym typeface="Calibri"/>
              </a:rPr>
              <a:t> ایجاد محدودیت‌های فضایی (Spatial Constraints) با دقت پیکسل.</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مکانیزم:</a:t>
            </a:r>
            <a:r>
              <a:rPr lang="en" sz="1800">
                <a:solidFill>
                  <a:schemeClr val="dk1"/>
                </a:solidFill>
                <a:latin typeface="Calibri"/>
                <a:ea typeface="Calibri"/>
                <a:cs typeface="Calibri"/>
                <a:sym typeface="Calibri"/>
              </a:rPr>
              <a:t> استفاده از کپی‌های آموزش‌پذیر و کانولوشن صفر برای حفظ وفاداری به ساختار (Pose, Edge, Depth).</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  توصیف علمی:</a:t>
            </a:r>
            <a:r>
              <a:rPr lang="en" sz="1800">
                <a:solidFill>
                  <a:schemeClr val="dk1"/>
                </a:solidFill>
                <a:latin typeface="Calibri"/>
                <a:ea typeface="Calibri"/>
                <a:cs typeface="Calibri"/>
                <a:sym typeface="Calibri"/>
              </a:rPr>
              <a:t> این متد «استخوان‌بندی» یا Geometry تصویر را دیکته می‌کند.</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rtl="1" algn="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5"/>
          <p:cNvSpPr/>
          <p:nvPr/>
        </p:nvSpPr>
        <p:spPr>
          <a:xfrm>
            <a:off x="2425" y="-7250"/>
            <a:ext cx="9144000" cy="12264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 name="Google Shape;163;p25"/>
          <p:cNvSpPr txBox="1"/>
          <p:nvPr/>
        </p:nvSpPr>
        <p:spPr>
          <a:xfrm>
            <a:off x="2523150" y="239525"/>
            <a:ext cx="4097700" cy="524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1" algn="ctr">
              <a:spcBef>
                <a:spcPts val="0"/>
              </a:spcBef>
              <a:spcAft>
                <a:spcPts val="0"/>
              </a:spcAft>
              <a:buNone/>
            </a:pPr>
            <a:r>
              <a:rPr lang="en" sz="1800">
                <a:solidFill>
                  <a:schemeClr val="dk1"/>
                </a:solidFill>
                <a:latin typeface="Calibri"/>
                <a:ea typeface="Calibri"/>
                <a:cs typeface="Calibri"/>
                <a:sym typeface="Calibri"/>
              </a:rPr>
              <a:t>اسلاید ۱۳: تحلیل چند لایه مکانیزم‌های کنترل</a:t>
            </a:r>
            <a:endParaRPr sz="1800">
              <a:solidFill>
                <a:schemeClr val="dk1"/>
              </a:solidFill>
              <a:latin typeface="Calibri"/>
              <a:ea typeface="Calibri"/>
              <a:cs typeface="Calibri"/>
              <a:sym typeface="Calibri"/>
            </a:endParaRPr>
          </a:p>
        </p:txBody>
      </p:sp>
      <p:pic>
        <p:nvPicPr>
          <p:cNvPr id="164" name="Google Shape;164;p25" title="275_010550ef7891d0a7f6dc1fc27b97aa6a.png"/>
          <p:cNvPicPr preferRelativeResize="0"/>
          <p:nvPr/>
        </p:nvPicPr>
        <p:blipFill>
          <a:blip r:embed="rId3">
            <a:alphaModFix/>
          </a:blip>
          <a:stretch>
            <a:fillRect/>
          </a:stretch>
        </p:blipFill>
        <p:spPr>
          <a:xfrm>
            <a:off x="333925" y="71425"/>
            <a:ext cx="1069050" cy="1069050"/>
          </a:xfrm>
          <a:prstGeom prst="rect">
            <a:avLst/>
          </a:prstGeom>
          <a:noFill/>
          <a:ln>
            <a:noFill/>
          </a:ln>
        </p:spPr>
      </p:pic>
      <p:sp>
        <p:nvSpPr>
          <p:cNvPr id="165" name="Google Shape;165;p25"/>
          <p:cNvSpPr txBox="1"/>
          <p:nvPr/>
        </p:nvSpPr>
        <p:spPr>
          <a:xfrm>
            <a:off x="6632050" y="148625"/>
            <a:ext cx="2406000" cy="7059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lang="en" sz="1800">
                <a:solidFill>
                  <a:schemeClr val="dk1"/>
                </a:solidFill>
                <a:latin typeface="Calibri"/>
                <a:ea typeface="Calibri"/>
                <a:cs typeface="Calibri"/>
                <a:sym typeface="Calibri"/>
              </a:rPr>
              <a:t>ارائه درس بینایی کامپیوتر </a:t>
            </a:r>
            <a:br>
              <a:rPr lang="en" sz="1800">
                <a:solidFill>
                  <a:schemeClr val="dk1"/>
                </a:solidFill>
                <a:latin typeface="Calibri"/>
                <a:ea typeface="Calibri"/>
                <a:cs typeface="Calibri"/>
                <a:sym typeface="Calibri"/>
              </a:rPr>
            </a:br>
            <a:r>
              <a:rPr lang="en" sz="1800">
                <a:solidFill>
                  <a:schemeClr val="dk1"/>
                </a:solidFill>
                <a:latin typeface="Calibri"/>
                <a:ea typeface="Calibri"/>
                <a:cs typeface="Calibri"/>
                <a:sym typeface="Calibri"/>
              </a:rPr>
              <a:t>استاد: دکتر نادری</a:t>
            </a:r>
            <a:endParaRPr sz="1800">
              <a:solidFill>
                <a:schemeClr val="dk1"/>
              </a:solidFill>
              <a:latin typeface="Calibri"/>
              <a:ea typeface="Calibri"/>
              <a:cs typeface="Calibri"/>
              <a:sym typeface="Calibri"/>
            </a:endParaRPr>
          </a:p>
        </p:txBody>
      </p:sp>
      <p:sp>
        <p:nvSpPr>
          <p:cNvPr id="166" name="Google Shape;166;p25"/>
          <p:cNvSpPr txBox="1"/>
          <p:nvPr/>
        </p:nvSpPr>
        <p:spPr>
          <a:xfrm>
            <a:off x="333925" y="1501350"/>
            <a:ext cx="8511600" cy="9945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CTIG-DM (کنترل محتوایی و دامنه):</a:t>
            </a:r>
            <a:endParaRPr b="1"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نقش:</a:t>
            </a:r>
            <a:r>
              <a:rPr lang="en" sz="1800">
                <a:solidFill>
                  <a:schemeClr val="dk1"/>
                </a:solidFill>
                <a:latin typeface="Calibri"/>
                <a:ea typeface="Calibri"/>
                <a:cs typeface="Calibri"/>
                <a:sym typeface="Calibri"/>
              </a:rPr>
              <a:t> تزریق اطلاعات معنایی ظریف و ویژگی‌های خاص دامنه (به‌ویژه متن و دست‌خط).</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مکانیزم:</a:t>
            </a:r>
            <a:r>
              <a:rPr lang="en" sz="1800">
                <a:solidFill>
                  <a:schemeClr val="dk1"/>
                </a:solidFill>
                <a:latin typeface="Calibri"/>
                <a:ea typeface="Calibri"/>
                <a:cs typeface="Calibri"/>
                <a:sym typeface="Calibri"/>
              </a:rPr>
              <a:t> جداسازی سبک (Style) و محتوا (Text Content) در لایه‌های میانی.</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 توصیف علمی:</a:t>
            </a:r>
            <a:r>
              <a:rPr lang="en" sz="1800">
                <a:solidFill>
                  <a:schemeClr val="dk1"/>
                </a:solidFill>
                <a:latin typeface="Calibri"/>
                <a:ea typeface="Calibri"/>
                <a:cs typeface="Calibri"/>
                <a:sym typeface="Calibri"/>
              </a:rPr>
              <a:t> این متد «هویت» یا Visual Identity و جزئیات دقیق کاراکترها را مدیریت می‌کند.</a:t>
            </a:r>
            <a:endParaRPr sz="1800">
              <a:solidFill>
                <a:schemeClr val="dk1"/>
              </a:solidFill>
              <a:latin typeface="Calibri"/>
              <a:ea typeface="Calibri"/>
              <a:cs typeface="Calibri"/>
              <a:sym typeface="Calibri"/>
            </a:endParaRPr>
          </a:p>
          <a:p>
            <a:pPr indent="0" lvl="0" marL="0" rtl="1" algn="r">
              <a:spcBef>
                <a:spcPts val="0"/>
              </a:spcBef>
              <a:spcAft>
                <a:spcPts val="0"/>
              </a:spcAft>
              <a:buNone/>
            </a:pPr>
            <a:r>
              <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 Steered Diffusion (هدایت پویا در زمان استنتاج):</a:t>
            </a:r>
            <a:endParaRPr b="1"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نقش:</a:t>
            </a:r>
            <a:r>
              <a:rPr lang="en" sz="1800">
                <a:solidFill>
                  <a:schemeClr val="dk1"/>
                </a:solidFill>
                <a:latin typeface="Calibri"/>
                <a:ea typeface="Calibri"/>
                <a:cs typeface="Calibri"/>
                <a:sym typeface="Calibri"/>
              </a:rPr>
              <a:t> اصلاح مسیر تولید تصویر بدون نیاز به دیتای برچسب‌دار یا آموزش مجدد (Zero-shot).</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مکانیزم:</a:t>
            </a:r>
            <a:r>
              <a:rPr lang="en" sz="1800">
                <a:solidFill>
                  <a:schemeClr val="dk1"/>
                </a:solidFill>
                <a:latin typeface="Calibri"/>
                <a:ea typeface="Calibri"/>
                <a:cs typeface="Calibri"/>
                <a:sym typeface="Calibri"/>
              </a:rPr>
              <a:t> بهینه‌سازی مسیر نویززدایی بر اساس گرادیان تابع انرژی.</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توصیف علمی:</a:t>
            </a:r>
            <a:r>
              <a:rPr lang="en" sz="1800">
                <a:solidFill>
                  <a:schemeClr val="dk1"/>
                </a:solidFill>
                <a:latin typeface="Calibri"/>
                <a:ea typeface="Calibri"/>
                <a:cs typeface="Calibri"/>
                <a:sym typeface="Calibri"/>
              </a:rPr>
              <a:t> این متد «ظرافت‌های نهایی» و Adaptation را در لحظه اجرا اعمال می‌کند.</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6"/>
          <p:cNvSpPr/>
          <p:nvPr/>
        </p:nvSpPr>
        <p:spPr>
          <a:xfrm>
            <a:off x="2425" y="-7250"/>
            <a:ext cx="9144000" cy="12264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 name="Google Shape;172;p26"/>
          <p:cNvSpPr txBox="1"/>
          <p:nvPr/>
        </p:nvSpPr>
        <p:spPr>
          <a:xfrm>
            <a:off x="3013800" y="239525"/>
            <a:ext cx="3116400" cy="524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1" algn="ctr">
              <a:spcBef>
                <a:spcPts val="0"/>
              </a:spcBef>
              <a:spcAft>
                <a:spcPts val="0"/>
              </a:spcAft>
              <a:buNone/>
            </a:pPr>
            <a:r>
              <a:rPr lang="en" sz="1800">
                <a:solidFill>
                  <a:schemeClr val="dk1"/>
                </a:solidFill>
                <a:latin typeface="Calibri"/>
                <a:ea typeface="Calibri"/>
                <a:cs typeface="Calibri"/>
                <a:sym typeface="Calibri"/>
              </a:rPr>
              <a:t>اسلاید ۱۴: الگوهای ترکیب فنی </a:t>
            </a:r>
            <a:endParaRPr sz="1800">
              <a:solidFill>
                <a:schemeClr val="dk1"/>
              </a:solidFill>
              <a:latin typeface="Calibri"/>
              <a:ea typeface="Calibri"/>
              <a:cs typeface="Calibri"/>
              <a:sym typeface="Calibri"/>
            </a:endParaRPr>
          </a:p>
        </p:txBody>
      </p:sp>
      <p:pic>
        <p:nvPicPr>
          <p:cNvPr id="173" name="Google Shape;173;p26" title="275_010550ef7891d0a7f6dc1fc27b97aa6a.png"/>
          <p:cNvPicPr preferRelativeResize="0"/>
          <p:nvPr/>
        </p:nvPicPr>
        <p:blipFill>
          <a:blip r:embed="rId3">
            <a:alphaModFix/>
          </a:blip>
          <a:stretch>
            <a:fillRect/>
          </a:stretch>
        </p:blipFill>
        <p:spPr>
          <a:xfrm>
            <a:off x="333925" y="71425"/>
            <a:ext cx="1069050" cy="1069050"/>
          </a:xfrm>
          <a:prstGeom prst="rect">
            <a:avLst/>
          </a:prstGeom>
          <a:noFill/>
          <a:ln>
            <a:noFill/>
          </a:ln>
        </p:spPr>
      </p:pic>
      <p:sp>
        <p:nvSpPr>
          <p:cNvPr id="174" name="Google Shape;174;p26"/>
          <p:cNvSpPr txBox="1"/>
          <p:nvPr/>
        </p:nvSpPr>
        <p:spPr>
          <a:xfrm>
            <a:off x="6632050" y="148625"/>
            <a:ext cx="2406000" cy="7059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lang="en" sz="1800">
                <a:solidFill>
                  <a:schemeClr val="dk1"/>
                </a:solidFill>
                <a:latin typeface="Calibri"/>
                <a:ea typeface="Calibri"/>
                <a:cs typeface="Calibri"/>
                <a:sym typeface="Calibri"/>
              </a:rPr>
              <a:t>ارائه درس بینایی کامپیوتر </a:t>
            </a:r>
            <a:br>
              <a:rPr lang="en" sz="1800">
                <a:solidFill>
                  <a:schemeClr val="dk1"/>
                </a:solidFill>
                <a:latin typeface="Calibri"/>
                <a:ea typeface="Calibri"/>
                <a:cs typeface="Calibri"/>
                <a:sym typeface="Calibri"/>
              </a:rPr>
            </a:br>
            <a:r>
              <a:rPr lang="en" sz="1800">
                <a:solidFill>
                  <a:schemeClr val="dk1"/>
                </a:solidFill>
                <a:latin typeface="Calibri"/>
                <a:ea typeface="Calibri"/>
                <a:cs typeface="Calibri"/>
                <a:sym typeface="Calibri"/>
              </a:rPr>
              <a:t>استاد: دکتر نادری</a:t>
            </a:r>
            <a:endParaRPr sz="1800">
              <a:solidFill>
                <a:schemeClr val="dk1"/>
              </a:solidFill>
              <a:latin typeface="Calibri"/>
              <a:ea typeface="Calibri"/>
              <a:cs typeface="Calibri"/>
              <a:sym typeface="Calibri"/>
            </a:endParaRPr>
          </a:p>
        </p:txBody>
      </p:sp>
      <p:sp>
        <p:nvSpPr>
          <p:cNvPr id="175" name="Google Shape;175;p26"/>
          <p:cNvSpPr txBox="1"/>
          <p:nvPr/>
        </p:nvSpPr>
        <p:spPr>
          <a:xfrm>
            <a:off x="333925" y="1501350"/>
            <a:ext cx="8511600" cy="9945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Clr>
                <a:schemeClr val="dk1"/>
              </a:buClr>
              <a:buSzPts val="1100"/>
              <a:buFont typeface="Arial"/>
              <a:buNone/>
            </a:pPr>
            <a:r>
              <a:rPr b="1" lang="en" sz="2000">
                <a:solidFill>
                  <a:schemeClr val="dk1"/>
                </a:solidFill>
                <a:latin typeface="Calibri"/>
                <a:ea typeface="Calibri"/>
                <a:cs typeface="Calibri"/>
                <a:sym typeface="Calibri"/>
              </a:rPr>
              <a:t>استراتژی‌های ادغام: چطور یک سیستم واحد بسازیم؟</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در این اسلاید، سه الگوی اصلی برای هم‌افزایی (Synergy) پیشنهاد می‌شود:</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b="1" lang="en" sz="1800">
                <a:solidFill>
                  <a:schemeClr val="dk1"/>
                </a:solidFill>
                <a:latin typeface="Calibri"/>
                <a:ea typeface="Calibri"/>
                <a:cs typeface="Calibri"/>
                <a:sym typeface="Calibri"/>
              </a:rPr>
              <a:t>    پایپلاین ترتیبی (Sequential Refinement):</a:t>
            </a:r>
            <a:endParaRPr b="1" sz="1800">
              <a:solidFill>
                <a:schemeClr val="dk1"/>
              </a:solidFill>
              <a:latin typeface="Calibri"/>
              <a:ea typeface="Calibri"/>
              <a:cs typeface="Calibri"/>
              <a:sym typeface="Calibri"/>
            </a:endParaRPr>
          </a:p>
          <a:p>
            <a:pPr indent="0" lvl="0" marL="0" rtl="1" algn="r">
              <a:spcBef>
                <a:spcPts val="0"/>
              </a:spcBef>
              <a:spcAft>
                <a:spcPts val="0"/>
              </a:spcAft>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جریان:</a:t>
            </a:r>
            <a:r>
              <a:rPr lang="en" sz="1800">
                <a:solidFill>
                  <a:schemeClr val="dk1"/>
                </a:solidFill>
                <a:latin typeface="Calibri"/>
                <a:ea typeface="Calibri"/>
                <a:cs typeface="Calibri"/>
                <a:sym typeface="Calibri"/>
              </a:rPr>
              <a:t> ابتدا ControlNet ساختار کلی را تثبیت می‌کند → سپس CTIG-DM جزئیات متنی و استایل را اضافه می‌کند → در نهایت Steered Diffusion برای انطباق با یک ویژگی خاص (مثل تغییر رنگ یا افزایش وضوح) خروجی را پالایش می‌کند.</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کاربرد: تولید داده‌های آموزشی پیچیده برای سیستم‌های بینایی ماشین.</a:t>
            </a:r>
            <a:endParaRPr sz="1800">
              <a:solidFill>
                <a:schemeClr val="dk1"/>
              </a:solidFill>
              <a:latin typeface="Calibri"/>
              <a:ea typeface="Calibri"/>
              <a:cs typeface="Calibri"/>
              <a:sym typeface="Calibri"/>
            </a:endParaRPr>
          </a:p>
          <a:p>
            <a:pPr indent="0" lvl="0" marL="0" rtl="1" algn="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7"/>
          <p:cNvSpPr/>
          <p:nvPr/>
        </p:nvSpPr>
        <p:spPr>
          <a:xfrm>
            <a:off x="2425" y="-7250"/>
            <a:ext cx="9144000" cy="12264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 name="Google Shape;181;p27"/>
          <p:cNvSpPr txBox="1"/>
          <p:nvPr/>
        </p:nvSpPr>
        <p:spPr>
          <a:xfrm>
            <a:off x="3013800" y="239525"/>
            <a:ext cx="3116400" cy="524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1" algn="ctr">
              <a:spcBef>
                <a:spcPts val="0"/>
              </a:spcBef>
              <a:spcAft>
                <a:spcPts val="0"/>
              </a:spcAft>
              <a:buNone/>
            </a:pPr>
            <a:r>
              <a:rPr lang="en" sz="1800">
                <a:solidFill>
                  <a:schemeClr val="dk1"/>
                </a:solidFill>
                <a:latin typeface="Calibri"/>
                <a:ea typeface="Calibri"/>
                <a:cs typeface="Calibri"/>
                <a:sym typeface="Calibri"/>
              </a:rPr>
              <a:t>اسلاید ۱۴: الگوهای ترکیب فنی </a:t>
            </a:r>
            <a:endParaRPr sz="1800">
              <a:solidFill>
                <a:schemeClr val="dk1"/>
              </a:solidFill>
              <a:latin typeface="Calibri"/>
              <a:ea typeface="Calibri"/>
              <a:cs typeface="Calibri"/>
              <a:sym typeface="Calibri"/>
            </a:endParaRPr>
          </a:p>
        </p:txBody>
      </p:sp>
      <p:pic>
        <p:nvPicPr>
          <p:cNvPr id="182" name="Google Shape;182;p27" title="275_010550ef7891d0a7f6dc1fc27b97aa6a.png"/>
          <p:cNvPicPr preferRelativeResize="0"/>
          <p:nvPr/>
        </p:nvPicPr>
        <p:blipFill>
          <a:blip r:embed="rId3">
            <a:alphaModFix/>
          </a:blip>
          <a:stretch>
            <a:fillRect/>
          </a:stretch>
        </p:blipFill>
        <p:spPr>
          <a:xfrm>
            <a:off x="333925" y="71425"/>
            <a:ext cx="1069050" cy="1069050"/>
          </a:xfrm>
          <a:prstGeom prst="rect">
            <a:avLst/>
          </a:prstGeom>
          <a:noFill/>
          <a:ln>
            <a:noFill/>
          </a:ln>
        </p:spPr>
      </p:pic>
      <p:sp>
        <p:nvSpPr>
          <p:cNvPr id="183" name="Google Shape;183;p27"/>
          <p:cNvSpPr txBox="1"/>
          <p:nvPr/>
        </p:nvSpPr>
        <p:spPr>
          <a:xfrm>
            <a:off x="6632050" y="148625"/>
            <a:ext cx="2406000" cy="7059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lang="en" sz="1800">
                <a:solidFill>
                  <a:schemeClr val="dk1"/>
                </a:solidFill>
                <a:latin typeface="Calibri"/>
                <a:ea typeface="Calibri"/>
                <a:cs typeface="Calibri"/>
                <a:sym typeface="Calibri"/>
              </a:rPr>
              <a:t>ارائه درس بینایی کامپیوتر </a:t>
            </a:r>
            <a:br>
              <a:rPr lang="en" sz="1800">
                <a:solidFill>
                  <a:schemeClr val="dk1"/>
                </a:solidFill>
                <a:latin typeface="Calibri"/>
                <a:ea typeface="Calibri"/>
                <a:cs typeface="Calibri"/>
                <a:sym typeface="Calibri"/>
              </a:rPr>
            </a:br>
            <a:r>
              <a:rPr lang="en" sz="1800">
                <a:solidFill>
                  <a:schemeClr val="dk1"/>
                </a:solidFill>
                <a:latin typeface="Calibri"/>
                <a:ea typeface="Calibri"/>
                <a:cs typeface="Calibri"/>
                <a:sym typeface="Calibri"/>
              </a:rPr>
              <a:t>استاد: دکتر نادری</a:t>
            </a:r>
            <a:endParaRPr sz="1800">
              <a:solidFill>
                <a:schemeClr val="dk1"/>
              </a:solidFill>
              <a:latin typeface="Calibri"/>
              <a:ea typeface="Calibri"/>
              <a:cs typeface="Calibri"/>
              <a:sym typeface="Calibri"/>
            </a:endParaRPr>
          </a:p>
        </p:txBody>
      </p:sp>
      <p:sp>
        <p:nvSpPr>
          <p:cNvPr id="184" name="Google Shape;184;p27"/>
          <p:cNvSpPr txBox="1"/>
          <p:nvPr/>
        </p:nvSpPr>
        <p:spPr>
          <a:xfrm>
            <a:off x="333925" y="1501350"/>
            <a:ext cx="8511600" cy="994500"/>
          </a:xfrm>
          <a:prstGeom prst="rect">
            <a:avLst/>
          </a:prstGeom>
          <a:noFill/>
          <a:ln>
            <a:noFill/>
          </a:ln>
        </p:spPr>
        <p:txBody>
          <a:bodyPr anchorCtr="0" anchor="t" bIns="91425" lIns="91425" spcFirstLastPara="1" rIns="91425" wrap="square" tIns="91425">
            <a:noAutofit/>
          </a:bodyPr>
          <a:lstStyle/>
          <a:p>
            <a:pPr indent="0" lvl="0" marL="0" rtl="1" algn="r">
              <a:lnSpc>
                <a:spcPct val="120000"/>
              </a:lnSpc>
              <a:spcBef>
                <a:spcPts val="0"/>
              </a:spcBef>
              <a:spcAft>
                <a:spcPts val="0"/>
              </a:spcAft>
              <a:buClr>
                <a:schemeClr val="dk1"/>
              </a:buClr>
              <a:buSzPts val="1100"/>
              <a:buFont typeface="Arial"/>
              <a:buNone/>
            </a:pPr>
            <a:r>
              <a:rPr b="1" lang="en" sz="1800">
                <a:solidFill>
                  <a:schemeClr val="dk1"/>
                </a:solidFill>
                <a:latin typeface="Calibri"/>
                <a:ea typeface="Calibri"/>
                <a:cs typeface="Calibri"/>
                <a:sym typeface="Calibri"/>
              </a:rPr>
              <a:t>    ادغام شرطی همزمان (Concurrent Conditioning):</a:t>
            </a:r>
            <a:endParaRPr b="1" sz="1800">
              <a:solidFill>
                <a:schemeClr val="dk1"/>
              </a:solidFill>
              <a:latin typeface="Calibri"/>
              <a:ea typeface="Calibri"/>
              <a:cs typeface="Calibri"/>
              <a:sym typeface="Calibri"/>
            </a:endParaRPr>
          </a:p>
          <a:p>
            <a:pPr indent="0" lvl="0" marL="0" rtl="1" algn="r">
              <a:lnSpc>
                <a:spcPct val="120000"/>
              </a:lnSpc>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فنی</a:t>
            </a:r>
            <a:r>
              <a:rPr lang="en" sz="1800">
                <a:solidFill>
                  <a:schemeClr val="dk1"/>
                </a:solidFill>
                <a:latin typeface="Calibri"/>
                <a:ea typeface="Calibri"/>
                <a:cs typeface="Calibri"/>
                <a:sym typeface="Calibri"/>
              </a:rPr>
              <a:t>: تزریق همزمان ویژگی‌های استخراج شده از ControlNet (از طریق Zero-Convs) و CTIG-DM (از طریق Cross-Attention) به یک U-Net واحد.</a:t>
            </a:r>
            <a:endParaRPr sz="1800">
              <a:solidFill>
                <a:schemeClr val="dk1"/>
              </a:solidFill>
              <a:latin typeface="Calibri"/>
              <a:ea typeface="Calibri"/>
              <a:cs typeface="Calibri"/>
              <a:sym typeface="Calibri"/>
            </a:endParaRPr>
          </a:p>
          <a:p>
            <a:pPr indent="0" lvl="0" marL="0" rtl="1" algn="r">
              <a:lnSpc>
                <a:spcPct val="120000"/>
              </a:lnSpc>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چالش</a:t>
            </a:r>
            <a:r>
              <a:rPr lang="en" sz="1800">
                <a:solidFill>
                  <a:schemeClr val="dk1"/>
                </a:solidFill>
                <a:latin typeface="Calibri"/>
                <a:ea typeface="Calibri"/>
                <a:cs typeface="Calibri"/>
                <a:sym typeface="Calibri"/>
              </a:rPr>
              <a:t>: مدیریت تداخل شرط‌ها (Condition Interference) که با استفاده از ضریب‌های وزنی قابل کنترل است.</a:t>
            </a:r>
            <a:endParaRPr sz="18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1" algn="r">
              <a:lnSpc>
                <a:spcPct val="120000"/>
              </a:lnSpc>
              <a:spcBef>
                <a:spcPts val="0"/>
              </a:spcBef>
              <a:spcAft>
                <a:spcPts val="0"/>
              </a:spcAft>
              <a:buClr>
                <a:schemeClr val="dk1"/>
              </a:buClr>
              <a:buSzPts val="1100"/>
              <a:buFont typeface="Arial"/>
              <a:buNone/>
            </a:pPr>
            <a:r>
              <a:rPr b="1" lang="en" sz="1800">
                <a:solidFill>
                  <a:schemeClr val="dk1"/>
                </a:solidFill>
                <a:latin typeface="Calibri"/>
                <a:ea typeface="Calibri"/>
                <a:cs typeface="Calibri"/>
                <a:sym typeface="Calibri"/>
              </a:rPr>
              <a:t>    هدایت گرادیانی روی مدل کنترل‌شده (Guided Control):</a:t>
            </a:r>
            <a:endParaRPr b="1" sz="1800">
              <a:solidFill>
                <a:schemeClr val="dk1"/>
              </a:solidFill>
              <a:latin typeface="Calibri"/>
              <a:ea typeface="Calibri"/>
              <a:cs typeface="Calibri"/>
              <a:sym typeface="Calibri"/>
            </a:endParaRPr>
          </a:p>
          <a:p>
            <a:pPr indent="0" lvl="0" marL="0" rtl="1" algn="r">
              <a:lnSpc>
                <a:spcPct val="120000"/>
              </a:lnSpc>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فنی</a:t>
            </a:r>
            <a:r>
              <a:rPr lang="en" sz="1800">
                <a:solidFill>
                  <a:schemeClr val="dk1"/>
                </a:solidFill>
                <a:latin typeface="Calibri"/>
                <a:ea typeface="Calibri"/>
                <a:cs typeface="Calibri"/>
                <a:sym typeface="Calibri"/>
              </a:rPr>
              <a:t>: استفاده از متد Steered Diffusion برای هدایت مدل ControlNet. در هر گام نویززدایی، گرادیانِ مدل Nair، خروجیِ مدل Zhang را اصلاح می‌کند تا مطمئن شویم تصویر نهایی علاوه بر لبه‌های دقیق، دارای ویژگی‌های کیفی خاص (مثل زیبایی‌شناسی یا رنگ) است.</a:t>
            </a:r>
            <a:endParaRPr sz="1800">
              <a:solidFill>
                <a:schemeClr val="dk1"/>
              </a:solidFill>
              <a:latin typeface="Calibri"/>
              <a:ea typeface="Calibri"/>
              <a:cs typeface="Calibri"/>
              <a:sym typeface="Calibri"/>
            </a:endParaRPr>
          </a:p>
          <a:p>
            <a:pPr indent="0" lvl="0" marL="0" rtl="1" algn="r">
              <a:spcBef>
                <a:spcPts val="0"/>
              </a:spcBef>
              <a:spcAft>
                <a:spcPts val="0"/>
              </a:spcAft>
              <a:buNone/>
            </a:pPr>
            <a:r>
              <a:t/>
            </a:r>
            <a:endParaRPr b="1" sz="20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8"/>
          <p:cNvSpPr/>
          <p:nvPr/>
        </p:nvSpPr>
        <p:spPr>
          <a:xfrm>
            <a:off x="2425" y="-7250"/>
            <a:ext cx="9144000" cy="12264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28"/>
          <p:cNvSpPr txBox="1"/>
          <p:nvPr/>
        </p:nvSpPr>
        <p:spPr>
          <a:xfrm>
            <a:off x="2827525" y="239525"/>
            <a:ext cx="3493800" cy="524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1" algn="ctr">
              <a:spcBef>
                <a:spcPts val="0"/>
              </a:spcBef>
              <a:spcAft>
                <a:spcPts val="0"/>
              </a:spcAft>
              <a:buNone/>
            </a:pPr>
            <a:r>
              <a:rPr lang="en" sz="1800">
                <a:solidFill>
                  <a:schemeClr val="dk1"/>
                </a:solidFill>
                <a:latin typeface="Calibri"/>
                <a:ea typeface="Calibri"/>
                <a:cs typeface="Calibri"/>
                <a:sym typeface="Calibri"/>
              </a:rPr>
              <a:t>اسلاید ۱۵: جمع‌بندی و چشم‌انداز نهایی</a:t>
            </a:r>
            <a:endParaRPr sz="1800">
              <a:solidFill>
                <a:schemeClr val="dk1"/>
              </a:solidFill>
              <a:latin typeface="Calibri"/>
              <a:ea typeface="Calibri"/>
              <a:cs typeface="Calibri"/>
              <a:sym typeface="Calibri"/>
            </a:endParaRPr>
          </a:p>
        </p:txBody>
      </p:sp>
      <p:pic>
        <p:nvPicPr>
          <p:cNvPr id="191" name="Google Shape;191;p28" title="275_010550ef7891d0a7f6dc1fc27b97aa6a.png"/>
          <p:cNvPicPr preferRelativeResize="0"/>
          <p:nvPr/>
        </p:nvPicPr>
        <p:blipFill>
          <a:blip r:embed="rId3">
            <a:alphaModFix/>
          </a:blip>
          <a:stretch>
            <a:fillRect/>
          </a:stretch>
        </p:blipFill>
        <p:spPr>
          <a:xfrm>
            <a:off x="333925" y="71425"/>
            <a:ext cx="1069050" cy="1069050"/>
          </a:xfrm>
          <a:prstGeom prst="rect">
            <a:avLst/>
          </a:prstGeom>
          <a:noFill/>
          <a:ln>
            <a:noFill/>
          </a:ln>
        </p:spPr>
      </p:pic>
      <p:sp>
        <p:nvSpPr>
          <p:cNvPr id="192" name="Google Shape;192;p28"/>
          <p:cNvSpPr txBox="1"/>
          <p:nvPr/>
        </p:nvSpPr>
        <p:spPr>
          <a:xfrm>
            <a:off x="6632050" y="148625"/>
            <a:ext cx="2406000" cy="7059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lang="en" sz="1800">
                <a:solidFill>
                  <a:schemeClr val="dk1"/>
                </a:solidFill>
                <a:latin typeface="Calibri"/>
                <a:ea typeface="Calibri"/>
                <a:cs typeface="Calibri"/>
                <a:sym typeface="Calibri"/>
              </a:rPr>
              <a:t>ارائه درس بینایی کامپیوتر </a:t>
            </a:r>
            <a:br>
              <a:rPr lang="en" sz="1800">
                <a:solidFill>
                  <a:schemeClr val="dk1"/>
                </a:solidFill>
                <a:latin typeface="Calibri"/>
                <a:ea typeface="Calibri"/>
                <a:cs typeface="Calibri"/>
                <a:sym typeface="Calibri"/>
              </a:rPr>
            </a:br>
            <a:r>
              <a:rPr lang="en" sz="1800">
                <a:solidFill>
                  <a:schemeClr val="dk1"/>
                </a:solidFill>
                <a:latin typeface="Calibri"/>
                <a:ea typeface="Calibri"/>
                <a:cs typeface="Calibri"/>
                <a:sym typeface="Calibri"/>
              </a:rPr>
              <a:t>استاد: دکتر نادری</a:t>
            </a:r>
            <a:endParaRPr sz="1800">
              <a:solidFill>
                <a:schemeClr val="dk1"/>
              </a:solidFill>
              <a:latin typeface="Calibri"/>
              <a:ea typeface="Calibri"/>
              <a:cs typeface="Calibri"/>
              <a:sym typeface="Calibri"/>
            </a:endParaRPr>
          </a:p>
        </p:txBody>
      </p:sp>
      <p:sp>
        <p:nvSpPr>
          <p:cNvPr id="193" name="Google Shape;193;p28"/>
          <p:cNvSpPr txBox="1"/>
          <p:nvPr/>
        </p:nvSpPr>
        <p:spPr>
          <a:xfrm>
            <a:off x="333925" y="1501350"/>
            <a:ext cx="8511600" cy="9945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Clr>
                <a:schemeClr val="dk1"/>
              </a:buClr>
              <a:buSzPts val="1100"/>
              <a:buFont typeface="Arial"/>
              <a:buNone/>
            </a:pPr>
            <a:r>
              <a:rPr b="1" lang="en" sz="2000">
                <a:solidFill>
                  <a:schemeClr val="dk1"/>
                </a:solidFill>
                <a:latin typeface="Calibri"/>
                <a:ea typeface="Calibri"/>
                <a:cs typeface="Calibri"/>
                <a:sym typeface="Calibri"/>
              </a:rPr>
              <a:t>هم‌افزایی لایه‌های کنترل؛ به سوی مدل‌های انتشار هوشمند</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تغییر پارادایم: ما از عصر «تولید تصویر صرفاً با متن» به عصر «مهندسی دقیق تصویر» عبور کرده‌ایم.</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تثبیت مفهوم «کجا، چه چیزی، چگونه»:</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ControlNet: مشخص می‌کند کجای تصویر چه المانی باشد (Location/Shape).</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CTIG-DM: مشخص می‌کند چه چیزی با چه جزییاتی نوشته شود (Identity/Text).</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        Steered Diffusion: مشخص می‌کند خروجی چگونه برای کاربر نهایی بهینه شود (Optimization).</a:t>
            </a:r>
            <a:endParaRPr sz="1800">
              <a:solidFill>
                <a:schemeClr val="dk1"/>
              </a:solidFill>
              <a:latin typeface="Calibri"/>
              <a:ea typeface="Calibri"/>
              <a:cs typeface="Calibri"/>
              <a:sym typeface="Calibri"/>
            </a:endParaRPr>
          </a:p>
          <a:p>
            <a:pPr indent="0" lvl="0" marL="0" rtl="1" algn="r">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rtl="1" algn="r">
              <a:spcBef>
                <a:spcPts val="0"/>
              </a:spcBef>
              <a:spcAft>
                <a:spcPts val="0"/>
              </a:spcAft>
              <a:buNone/>
            </a:pPr>
            <a:r>
              <a:rPr lang="en" sz="1800">
                <a:solidFill>
                  <a:schemeClr val="dk1"/>
                </a:solidFill>
                <a:latin typeface="Calibri"/>
                <a:ea typeface="Calibri"/>
                <a:cs typeface="Calibri"/>
                <a:sym typeface="Calibri"/>
              </a:rPr>
              <a:t>   </a:t>
            </a:r>
            <a:r>
              <a:rPr b="1" lang="en" sz="1800">
                <a:solidFill>
                  <a:schemeClr val="dk1"/>
                </a:solidFill>
                <a:latin typeface="Calibri"/>
                <a:ea typeface="Calibri"/>
                <a:cs typeface="Calibri"/>
                <a:sym typeface="Calibri"/>
              </a:rPr>
              <a:t> نتیجه‌گیری علمی:</a:t>
            </a:r>
            <a:r>
              <a:rPr lang="en" sz="1800">
                <a:solidFill>
                  <a:schemeClr val="dk1"/>
                </a:solidFill>
                <a:latin typeface="Calibri"/>
                <a:ea typeface="Calibri"/>
                <a:cs typeface="Calibri"/>
                <a:sym typeface="Calibri"/>
              </a:rPr>
              <a:t> ترکیب این سه رویکرد، پایداری (Stability) مدل‌های آموزش‌دیده را با انعطاف‌پذیری (Flexibility) متدهای Plug-and-Play پیوند می‌دهد. این هم‌افزایی، امکان طراحی سیستم‌هایی را فراهم می‌کند که هم از نظر ساختاری دقیق هستند و هم از نظر محتوایی غنی و قابل ویرایش.</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9"/>
          <p:cNvSpPr/>
          <p:nvPr/>
        </p:nvSpPr>
        <p:spPr>
          <a:xfrm>
            <a:off x="2425" y="-7250"/>
            <a:ext cx="9144000" cy="12264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p29"/>
          <p:cNvSpPr txBox="1"/>
          <p:nvPr/>
        </p:nvSpPr>
        <p:spPr>
          <a:xfrm>
            <a:off x="3326250" y="239525"/>
            <a:ext cx="2491500" cy="524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Calibri"/>
                <a:ea typeface="Calibri"/>
                <a:cs typeface="Calibri"/>
                <a:sym typeface="Calibri"/>
              </a:rPr>
              <a:t>اسلاید</a:t>
            </a:r>
            <a:endParaRPr sz="1800">
              <a:solidFill>
                <a:schemeClr val="dk1"/>
              </a:solidFill>
              <a:latin typeface="Calibri"/>
              <a:ea typeface="Calibri"/>
              <a:cs typeface="Calibri"/>
              <a:sym typeface="Calibri"/>
            </a:endParaRPr>
          </a:p>
        </p:txBody>
      </p:sp>
      <p:pic>
        <p:nvPicPr>
          <p:cNvPr id="200" name="Google Shape;200;p29" title="275_010550ef7891d0a7f6dc1fc27b97aa6a.png"/>
          <p:cNvPicPr preferRelativeResize="0"/>
          <p:nvPr/>
        </p:nvPicPr>
        <p:blipFill>
          <a:blip r:embed="rId3">
            <a:alphaModFix/>
          </a:blip>
          <a:stretch>
            <a:fillRect/>
          </a:stretch>
        </p:blipFill>
        <p:spPr>
          <a:xfrm>
            <a:off x="333925" y="71425"/>
            <a:ext cx="1069050" cy="1069050"/>
          </a:xfrm>
          <a:prstGeom prst="rect">
            <a:avLst/>
          </a:prstGeom>
          <a:noFill/>
          <a:ln>
            <a:noFill/>
          </a:ln>
        </p:spPr>
      </p:pic>
      <p:sp>
        <p:nvSpPr>
          <p:cNvPr id="201" name="Google Shape;201;p29"/>
          <p:cNvSpPr txBox="1"/>
          <p:nvPr/>
        </p:nvSpPr>
        <p:spPr>
          <a:xfrm>
            <a:off x="6632050" y="148625"/>
            <a:ext cx="2406000" cy="7059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lang="en" sz="1800">
                <a:solidFill>
                  <a:schemeClr val="dk1"/>
                </a:solidFill>
                <a:latin typeface="Calibri"/>
                <a:ea typeface="Calibri"/>
                <a:cs typeface="Calibri"/>
                <a:sym typeface="Calibri"/>
              </a:rPr>
              <a:t>ارائه درس بینایی کامپیوتر </a:t>
            </a:r>
            <a:br>
              <a:rPr lang="en" sz="1800">
                <a:solidFill>
                  <a:schemeClr val="dk1"/>
                </a:solidFill>
                <a:latin typeface="Calibri"/>
                <a:ea typeface="Calibri"/>
                <a:cs typeface="Calibri"/>
                <a:sym typeface="Calibri"/>
              </a:rPr>
            </a:br>
            <a:r>
              <a:rPr lang="en" sz="1800">
                <a:solidFill>
                  <a:schemeClr val="dk1"/>
                </a:solidFill>
                <a:latin typeface="Calibri"/>
                <a:ea typeface="Calibri"/>
                <a:cs typeface="Calibri"/>
                <a:sym typeface="Calibri"/>
              </a:rPr>
              <a:t>استاد: دکتر نادری</a:t>
            </a:r>
            <a:endParaRPr sz="1800">
              <a:solidFill>
                <a:schemeClr val="dk1"/>
              </a:solidFill>
              <a:latin typeface="Calibri"/>
              <a:ea typeface="Calibri"/>
              <a:cs typeface="Calibri"/>
              <a:sym typeface="Calibri"/>
            </a:endParaRPr>
          </a:p>
        </p:txBody>
      </p:sp>
      <p:sp>
        <p:nvSpPr>
          <p:cNvPr id="202" name="Google Shape;202;p29"/>
          <p:cNvSpPr txBox="1"/>
          <p:nvPr/>
        </p:nvSpPr>
        <p:spPr>
          <a:xfrm>
            <a:off x="333925" y="1501350"/>
            <a:ext cx="8511600" cy="9945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